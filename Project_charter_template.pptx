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5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6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8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9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0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1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2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3.xml" ContentType="application/vnd.openxmlformats-officedocument.presentationml.notesSlide+xml"/>
  <Override PartName="/ppt/theme/themeOverride5.xml" ContentType="application/vnd.openxmlformats-officedocument.themeOverr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4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heme/themeOverride6.xml" ContentType="application/vnd.openxmlformats-officedocument.themeOverr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heme/themeOverride7.xml" ContentType="application/vnd.openxmlformats-officedocument.themeOverr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7"/>
  </p:sldMasterIdLst>
  <p:notesMasterIdLst>
    <p:notesMasterId r:id="rId26"/>
  </p:notesMasterIdLst>
  <p:sldIdLst>
    <p:sldId id="267" r:id="rId8"/>
    <p:sldId id="312" r:id="rId9"/>
    <p:sldId id="299" r:id="rId10"/>
    <p:sldId id="298" r:id="rId11"/>
    <p:sldId id="295" r:id="rId12"/>
    <p:sldId id="307" r:id="rId13"/>
    <p:sldId id="310" r:id="rId14"/>
    <p:sldId id="288" r:id="rId15"/>
    <p:sldId id="292" r:id="rId16"/>
    <p:sldId id="315" r:id="rId17"/>
    <p:sldId id="304" r:id="rId18"/>
    <p:sldId id="303" r:id="rId19"/>
    <p:sldId id="313" r:id="rId20"/>
    <p:sldId id="275" r:id="rId21"/>
    <p:sldId id="319" r:id="rId22"/>
    <p:sldId id="317" r:id="rId23"/>
    <p:sldId id="318" r:id="rId24"/>
    <p:sldId id="279" r:id="rId25"/>
  </p:sldIdLst>
  <p:sldSz cx="10969625" cy="6170613"/>
  <p:notesSz cx="6858000" cy="9144000"/>
  <p:custDataLst>
    <p:tags r:id="rId2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cole Gann" initials="NG" lastIdx="1" clrIdx="0">
    <p:extLst>
      <p:ext uri="{19B8F6BF-5375-455C-9EA6-DF929625EA0E}">
        <p15:presenceInfo xmlns:p15="http://schemas.microsoft.com/office/powerpoint/2012/main" userId="Nicole Ga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85612" autoAdjust="0"/>
  </p:normalViewPr>
  <p:slideViewPr>
    <p:cSldViewPr snapToGrid="0">
      <p:cViewPr varScale="1">
        <p:scale>
          <a:sx n="143" d="100"/>
          <a:sy n="143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18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29.03.26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de-DE" dirty="0">
              <a:latin typeface="Bosch Office Sans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57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72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>
                <a:latin typeface="Bosch Office Sans" panose="020B0604020202020204" pitchFamily="34" charset="0"/>
              </a:rPr>
              <a:t>Minimum mandatory fields to be filled:</a:t>
            </a:r>
          </a:p>
          <a:p>
            <a:r>
              <a:rPr lang="en-US" altLang="de-DE" b="1" dirty="0">
                <a:latin typeface="Bosch Office Sans" panose="020B0604020202020204" pitchFamily="34" charset="0"/>
              </a:rPr>
              <a:t>Project initiation</a:t>
            </a:r>
            <a:endParaRPr lang="en-US" altLang="de-DE" dirty="0">
              <a:latin typeface="Bosch Office Sans" panose="020B0604020202020204" pitchFamily="34" charset="0"/>
            </a:endParaRPr>
          </a:p>
          <a:p>
            <a:r>
              <a:rPr lang="en-US" altLang="de-DE" dirty="0">
                <a:latin typeface="Bosch Office Sans" panose="020B0604020202020204" pitchFamily="34" charset="0"/>
              </a:rPr>
              <a:t>Required qualification of project manager and project sponsor have to be checked considering risks and measures if requirements are not fulfilled to execute role </a:t>
            </a:r>
          </a:p>
          <a:p>
            <a:endParaRPr lang="en-US" altLang="de-DE" b="1" dirty="0">
              <a:latin typeface="Bosch Office Sans" panose="020B0604020202020204" pitchFamily="34" charset="0"/>
            </a:endParaRPr>
          </a:p>
          <a:p>
            <a:endParaRPr lang="en-US" altLang="de-DE" dirty="0">
              <a:latin typeface="Bosch Office Sans" panose="020B0604020202020204" pitchFamily="34" charset="0"/>
            </a:endParaRPr>
          </a:p>
          <a:p>
            <a:endParaRPr lang="en-US" altLang="de-DE" dirty="0">
              <a:latin typeface="Bosch Office Sans" panose="020B0604020202020204" pitchFamily="34" charset="0"/>
            </a:endParaRPr>
          </a:p>
          <a:p>
            <a:endParaRPr lang="en-US" altLang="de-DE" dirty="0">
              <a:latin typeface="Bosch Office Sans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91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94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de-DE" dirty="0">
              <a:latin typeface="Bosch Office Sans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23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de-DE" dirty="0">
              <a:latin typeface="Bosch Office Sans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5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96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1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30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8BFB8-7BC1-46BF-8427-618B863D9C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sch Office Sans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706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0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de-DE" dirty="0">
              <a:latin typeface="Bosch Office Sans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72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de-DE" dirty="0">
              <a:latin typeface="Bosch Office Sans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5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de-DE" dirty="0">
              <a:latin typeface="Bosch Office Sans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034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8BFB8-7BC1-46BF-8427-618B863D9CB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58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3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3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3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3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3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image" Target="../media/image3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3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3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3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3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3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image" Target="../media/image3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Pres. Title</a:t>
            </a:r>
            <a:endParaRPr lang="de-DE" dirty="0"/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Pres. Title</a:t>
            </a:r>
            <a:endParaRPr lang="de-DE" dirty="0"/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ustom 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Pres. Title</a:t>
            </a:r>
            <a:endParaRPr lang="de-DE" dirty="0"/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Chapter Title</a:t>
            </a:r>
            <a:endParaRPr lang="de-DE" dirty="0"/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de-DE"/>
              <a:t>“Add Quotation”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3" descr="bottom_d2_169.png"/>
          <p:cNvPicPr>
            <a:picLocks noSel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259199"/>
            <a:ext cx="987480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de-DE"/>
              <a:t>Add 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3" descr="bottom_d2_169.png"/>
          <p:cNvPicPr>
            <a:picLocks noSel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59200" y="1296000"/>
            <a:ext cx="1045080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de-DE"/>
              <a:t>Add Text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3200" y="259078"/>
            <a:ext cx="169200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GB" sz="550" b="0" i="0" u="none" strike="noStrike" kern="0" baseline="0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200" y="259200"/>
            <a:ext cx="104508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8762" y="1296000"/>
            <a:ext cx="104508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8600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0000" y="1295999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9600" y="1296000"/>
            <a:ext cx="312840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35" userDrawn="1">
          <p15:clr>
            <a:srgbClr val="FBAE40"/>
          </p15:clr>
        </p15:guide>
        <p15:guide id="9" pos="2462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749" userDrawn="1">
          <p15:clr>
            <a:srgbClr val="FBAE40"/>
          </p15:clr>
        </p15:guide>
        <p15:guide id="9" pos="1829" userDrawn="1">
          <p15:clr>
            <a:srgbClr val="FBAE40"/>
          </p15:clr>
        </p15:guide>
        <p15:guide id="10" pos="3416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82" userDrawn="1">
          <p15:clr>
            <a:srgbClr val="FBAE40"/>
          </p15:clr>
        </p15:guide>
        <p15:guide id="13" pos="51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104508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853600" y="1295999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853600" y="3445201"/>
            <a:ext cx="48600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9096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0000" y="1295999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9096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7560000" y="3445201"/>
            <a:ext cx="3128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2140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34" userDrawn="1">
          <p15:clr>
            <a:srgbClr val="FBAE40"/>
          </p15:clr>
        </p15:guide>
        <p15:guide id="11" pos="4761" userDrawn="1">
          <p15:clr>
            <a:srgbClr val="FBAE40"/>
          </p15:clr>
        </p15:guide>
        <p15:guide id="12" orient="horz" pos="2090" userDrawn="1">
          <p15:clr>
            <a:srgbClr val="FBAE40"/>
          </p15:clr>
        </p15:guide>
        <p15:guide id="13" orient="horz" pos="21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9200" y="259200"/>
            <a:ext cx="10450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/>
              <a:t>Add Chapter Title</a:t>
            </a:r>
            <a:endParaRPr lang="de-DE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00" y="648000"/>
            <a:ext cx="10450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de-DE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9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2905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197200" y="1295999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2905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197200" y="3445201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1200" y="12960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1200" y="3445200"/>
            <a:ext cx="251640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Add Text 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orient="horz" pos="2090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pos="1749" userDrawn="1">
          <p15:clr>
            <a:srgbClr val="FBAE40"/>
          </p15:clr>
        </p15:guide>
        <p15:guide id="11" pos="183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82" userDrawn="1">
          <p15:clr>
            <a:srgbClr val="FBAE40"/>
          </p15:clr>
        </p15:guide>
        <p15:guide id="15" pos="516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36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 Page Graphic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" y="2"/>
            <a:ext cx="10969509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200" y="259200"/>
            <a:ext cx="987480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Add Closing Phrase</a:t>
            </a:r>
            <a:endParaRPr lang="de-DE" dirty="0"/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00" y="5464811"/>
            <a:ext cx="109440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940" y="2"/>
            <a:ext cx="12960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483125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53" imgH="353" progId="TCLayout.ActiveDocument.1">
                  <p:embed/>
                </p:oleObj>
              </mc:Choice>
              <mc:Fallback>
                <p:oleObj name="think-cell Slide" r:id="rId23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 pitchFamily="2" charset="0"/>
              <a:ea typeface="+mj-ea"/>
              <a:cs typeface="+mj-cs"/>
              <a:sym typeface="Bosch Office Sans" pitchFamily="2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1">
                <a:ln>
                  <a:noFill/>
                </a:ln>
                <a:solidFill>
                  <a:srgbClr val="D70012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Internal </a:t>
            </a: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 | Project Sponsor, Project Manager | date</a:t>
            </a:r>
            <a:endParaRPr kumimoji="0" lang="de-DE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 pitchFamily="2" charset="0"/>
              <a:ea typeface="+mn-ea"/>
              <a:cs typeface="+mn-cs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B2B3B5"/>
                </a:solidFill>
                <a:effectLst/>
                <a:uLnTx/>
                <a:uFillTx/>
                <a:latin typeface="Bosch Office Sans" pitchFamily="2" charset="0"/>
                <a:ea typeface="+mn-ea"/>
                <a:cs typeface="+mn-cs"/>
              </a:rPr>
              <a:t>© Robert Bosch GmbH 2016. All rights reserved, also regarding any disposal, exploitation, reproduction, editing, distribution, as well as in the event of applications for industrial property rights.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B2B3B5"/>
              </a:solidFill>
              <a:effectLst/>
              <a:uLnTx/>
              <a:uFillTx/>
              <a:latin typeface="Bosch Office Sans" pitchFamily="2" charset="0"/>
              <a:ea typeface="+mn-ea"/>
              <a:cs typeface="+mn-cs"/>
            </a:endParaRP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de-DE" sz="600" kern="0" baseline="0">
                <a:solidFill>
                  <a:schemeClr val="tx1"/>
                </a:solidFill>
              </a:rPr>
              <a:t>%repositoryremark%</a:t>
            </a:r>
            <a:r>
              <a:rPr lang="de-DE" sz="600" kern="0" baseline="0">
                <a:solidFill>
                  <a:srgbClr val="B2B3B5"/>
                </a:solidFill>
              </a:rPr>
              <a:t>%copyright%</a:t>
            </a:r>
            <a:endParaRPr lang="de-DE" sz="600" kern="0" baseline="0" dirty="0">
              <a:solidFill>
                <a:srgbClr val="B2B3B5"/>
              </a:solidFill>
            </a:endParaRP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594000" y="5644800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de-DE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de-DE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hemeOverride" Target="../theme/themeOverride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59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4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63.xml"/><Relationship Id="rId1" Type="http://schemas.openxmlformats.org/officeDocument/2006/relationships/themeOverride" Target="../theme/themeOverride2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68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67.xml"/><Relationship Id="rId1" Type="http://schemas.openxmlformats.org/officeDocument/2006/relationships/themeOverride" Target="../theme/themeOverride3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10" Type="http://schemas.openxmlformats.org/officeDocument/2006/relationships/image" Target="../media/image1.emf"/><Relationship Id="rId4" Type="http://schemas.openxmlformats.org/officeDocument/2006/relationships/tags" Target="../tags/tag69.xml"/><Relationship Id="rId9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72.xml"/><Relationship Id="rId1" Type="http://schemas.openxmlformats.org/officeDocument/2006/relationships/themeOverride" Target="../theme/themeOverride4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9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9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hemeOverride" Target="../theme/themeOverride5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0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hemeOverride" Target="../theme/themeOverride7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59080" y="259080"/>
            <a:ext cx="9872980" cy="520446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8227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defRPr sz="100" b="0" i="0" u="none" kern="1200" spc="0">
                <a:solidFill>
                  <a:srgbClr val="000000"/>
                </a:solidFill>
                <a:latin typeface="Bosch Office Sans" panose="020B0604020202020204" pitchFamily="34" charset="0"/>
                <a:ea typeface="+mn-ea"/>
                <a:cs typeface="+mn-cs"/>
              </a:defRPr>
            </a:lvl1pPr>
            <a:lvl2pPr marL="411358" indent="0" algn="ctr" defTabSz="822716" rtl="0" eaLnBrk="1" latinLnBrk="0" hangingPunct="1">
              <a:lnSpc>
                <a:spcPts val="2000"/>
              </a:lnSpc>
              <a:spcBef>
                <a:spcPts val="500"/>
              </a:spcBef>
              <a:buClrTx/>
              <a:buSzPct val="100000"/>
              <a:buFontTx/>
              <a:buNone/>
              <a:defRPr sz="1799" b="0" i="0" u="none" kern="1200">
                <a:solidFill>
                  <a:schemeClr val="tx1"/>
                </a:solidFill>
                <a:latin typeface="Bosch Office Sans" panose="020B0604020202020204" pitchFamily="34" charset="0"/>
                <a:ea typeface="+mn-ea"/>
                <a:cs typeface="+mn-cs"/>
              </a:defRPr>
            </a:lvl2pPr>
            <a:lvl3pPr marL="822716" indent="0" algn="ctr" defTabSz="822716" rtl="0" eaLnBrk="1" latinLnBrk="0" hangingPunct="1">
              <a:lnSpc>
                <a:spcPts val="1700"/>
              </a:lnSpc>
              <a:spcBef>
                <a:spcPts val="500"/>
              </a:spcBef>
              <a:buClrTx/>
              <a:buSzPct val="100000"/>
              <a:buFontTx/>
              <a:buNone/>
              <a:defRPr sz="1619" b="0" i="0" u="none" kern="1200">
                <a:solidFill>
                  <a:schemeClr val="tx1"/>
                </a:solidFill>
                <a:latin typeface="Bosch Office Sans" panose="020B0604020202020204" pitchFamily="34" charset="0"/>
                <a:ea typeface="+mn-ea"/>
                <a:cs typeface="+mn-cs"/>
              </a:defRPr>
            </a:lvl3pPr>
            <a:lvl4pPr marL="1234075" indent="0" algn="ctr" defTabSz="822716" rtl="0" eaLnBrk="1" latinLnBrk="0" hangingPunct="1">
              <a:lnSpc>
                <a:spcPts val="1600"/>
              </a:lnSpc>
              <a:spcBef>
                <a:spcPts val="500"/>
              </a:spcBef>
              <a:buClrTx/>
              <a:buSzPct val="100000"/>
              <a:buFontTx/>
              <a:buNone/>
              <a:defRPr sz="1440" b="0" i="0" u="none" kern="1200">
                <a:solidFill>
                  <a:schemeClr val="tx1"/>
                </a:solidFill>
                <a:latin typeface="Bosch Office Sans" panose="020B0604020202020204" pitchFamily="34" charset="0"/>
                <a:ea typeface="+mn-ea"/>
                <a:cs typeface="+mn-cs"/>
              </a:defRPr>
            </a:lvl4pPr>
            <a:lvl5pPr marL="1645433" indent="0" algn="ctr" defTabSz="822716" rtl="0" eaLnBrk="1" latinLnBrk="0" hangingPunct="1">
              <a:lnSpc>
                <a:spcPts val="1600"/>
              </a:lnSpc>
              <a:spcBef>
                <a:spcPts val="500"/>
              </a:spcBef>
              <a:buClrTx/>
              <a:buSzPct val="100000"/>
              <a:buFontTx/>
              <a:buNone/>
              <a:defRPr sz="1440" b="0" i="0" u="none" kern="1200">
                <a:solidFill>
                  <a:schemeClr val="tx1"/>
                </a:solidFill>
                <a:latin typeface="Bosch Office Sans" panose="020B0604020202020204" pitchFamily="34" charset="0"/>
                <a:ea typeface="+mn-ea"/>
                <a:cs typeface="+mn-cs"/>
              </a:defRPr>
            </a:lvl5pPr>
            <a:lvl6pPr marL="2056792" indent="0" algn="ctr" defTabSz="822716" rtl="0" eaLnBrk="1" latinLnBrk="0" hangingPunct="1">
              <a:lnSpc>
                <a:spcPts val="1600"/>
              </a:lnSpc>
              <a:spcBef>
                <a:spcPts val="500"/>
              </a:spcBef>
              <a:buClrTx/>
              <a:buSzPct val="100000"/>
              <a:buFontTx/>
              <a:buNone/>
              <a:defRPr sz="1440" b="0" i="0" u="none" kern="1200">
                <a:solidFill>
                  <a:schemeClr val="tx1"/>
                </a:solidFill>
                <a:latin typeface="Bosch Office Sans" panose="020B0604020202020204" pitchFamily="34" charset="0"/>
                <a:ea typeface="+mn-ea"/>
                <a:cs typeface="+mn-cs"/>
              </a:defRPr>
            </a:lvl6pPr>
            <a:lvl7pPr marL="2468150" indent="0" algn="ctr" defTabSz="822716" rtl="0" eaLnBrk="1" latinLnBrk="0" hangingPunct="1">
              <a:lnSpc>
                <a:spcPts val="1600"/>
              </a:lnSpc>
              <a:spcBef>
                <a:spcPts val="500"/>
              </a:spcBef>
              <a:buClrTx/>
              <a:buSzPct val="100000"/>
              <a:buFontTx/>
              <a:buNone/>
              <a:defRPr sz="1440" b="0" i="0" u="none" kern="1200">
                <a:solidFill>
                  <a:schemeClr val="tx1"/>
                </a:solidFill>
                <a:latin typeface="Bosch Office Sans" panose="020B0604020202020204" pitchFamily="34" charset="0"/>
                <a:ea typeface="+mn-ea"/>
                <a:cs typeface="+mn-cs"/>
              </a:defRPr>
            </a:lvl7pPr>
            <a:lvl8pPr marL="2879509" indent="0" algn="ctr" defTabSz="822716" rtl="0" eaLnBrk="1" latinLnBrk="0" hangingPunct="1">
              <a:lnSpc>
                <a:spcPts val="1600"/>
              </a:lnSpc>
              <a:spcBef>
                <a:spcPts val="500"/>
              </a:spcBef>
              <a:buClrTx/>
              <a:buSzPct val="100000"/>
              <a:buFontTx/>
              <a:buNone/>
              <a:defRPr sz="1440" b="0" i="0" u="none" kern="1200">
                <a:solidFill>
                  <a:schemeClr val="tx1"/>
                </a:solidFill>
                <a:latin typeface="Bosch Office Sans" panose="020B0604020202020204" pitchFamily="34" charset="0"/>
                <a:ea typeface="+mn-ea"/>
                <a:cs typeface="+mn-cs"/>
              </a:defRPr>
            </a:lvl8pPr>
            <a:lvl9pPr marL="3290867" indent="0" algn="ctr" defTabSz="822716" rtl="0" eaLnBrk="1" latinLnBrk="0" hangingPunct="1">
              <a:lnSpc>
                <a:spcPts val="1600"/>
              </a:lnSpc>
              <a:spcBef>
                <a:spcPts val="500"/>
              </a:spcBef>
              <a:buClrTx/>
              <a:buSzPct val="100000"/>
              <a:buFontTx/>
              <a:buNone/>
              <a:defRPr sz="1440" b="0" i="0" u="none" kern="1200" baseline="0">
                <a:solidFill>
                  <a:schemeClr val="tx1"/>
                </a:solidFill>
                <a:latin typeface="Bosch Office Sans" panose="020B0604020202020204" pitchFamily="34" charset="0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rgbClr val="FFFFFF"/>
                </a:solidFill>
              </a:rPr>
              <a:t>Project Charter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(Name of project)</a:t>
            </a:r>
          </a:p>
          <a:p>
            <a:pPr>
              <a:lnSpc>
                <a:spcPct val="90000"/>
              </a:lnSpc>
            </a:pPr>
            <a:endParaRPr lang="en-US" sz="4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4000" dirty="0">
              <a:solidFill>
                <a:srgbClr val="FFFFFF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rgbClr val="FFFFFF"/>
                </a:solidFill>
              </a:rPr>
              <a:t>&lt;Date&gt;</a:t>
            </a:r>
          </a:p>
          <a:p>
            <a:pPr algn="ctr">
              <a:lnSpc>
                <a:spcPct val="90000"/>
              </a:lnSpc>
            </a:pPr>
            <a:endParaRPr lang="en-US" sz="2400" dirty="0">
              <a:solidFill>
                <a:srgbClr val="FFFFFF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rgbClr val="FFFFFF"/>
                </a:solidFill>
              </a:rPr>
              <a:t>Project Type: Carve out</a:t>
            </a:r>
            <a:endParaRPr lang="en-US" sz="2400" i="1" dirty="0">
              <a:solidFill>
                <a:srgbClr val="FFFFFF"/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79470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sz="2800" dirty="0"/>
              <a:t>Agenda</a:t>
            </a:r>
          </a:p>
        </p:txBody>
      </p:sp>
      <p:sp>
        <p:nvSpPr>
          <p:cNvPr id="9" name="Textfeld 8"/>
          <p:cNvSpPr>
            <a:spLocks noGrp="1"/>
          </p:cNvSpPr>
          <p:nvPr>
            <p:ph type="body" sz="quarter" idx="15"/>
            <p:custDataLst>
              <p:tags r:id="rId3"/>
            </p:custDataLst>
          </p:nvPr>
        </p:nvSpPr>
        <p:spPr>
          <a:xfrm>
            <a:off x="151751" y="259200"/>
            <a:ext cx="10817874" cy="38880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&lt;name of project</a:t>
            </a:r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</a:rPr>
              <a:t>&gt;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quarter" idx="1"/>
            <p:custDataLst>
              <p:tags r:id="rId4"/>
            </p:custDataLst>
          </p:nvPr>
        </p:nvSpPr>
        <p:spPr>
          <a:xfrm>
            <a:off x="266700" y="1296000"/>
            <a:ext cx="3784601" cy="4536947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r>
              <a:rPr lang="en-US" altLang="de-DE" sz="1600" i="1" dirty="0">
                <a:solidFill>
                  <a:srgbClr val="0070C0"/>
                </a:solidFill>
              </a:rPr>
              <a:t>Activities Roles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Activities Goals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Scope Description</a:t>
            </a:r>
          </a:p>
          <a:p>
            <a:r>
              <a:rPr lang="de-DE" altLang="de-DE" sz="1600" i="1" dirty="0">
                <a:solidFill>
                  <a:srgbClr val="0070C0"/>
                </a:solidFill>
              </a:rPr>
              <a:t>Solution Proposal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Business Case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Governance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Assumptions, Constraints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Development Approach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Risk, Opportunities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Timeline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Cost/Budget</a:t>
            </a:r>
          </a:p>
          <a:p>
            <a:r>
              <a:rPr lang="en-US" altLang="de-DE" sz="1600" i="1" dirty="0">
                <a:solidFill>
                  <a:srgbClr val="0070C0"/>
                </a:solidFill>
              </a:rPr>
              <a:t>Resources</a:t>
            </a:r>
          </a:p>
          <a:p>
            <a:r>
              <a:rPr lang="de-DE" sz="1600" i="1" dirty="0">
                <a:solidFill>
                  <a:srgbClr val="0070C0"/>
                </a:solidFill>
              </a:rPr>
              <a:t>Project Organisation</a:t>
            </a:r>
            <a:endParaRPr lang="en-US" altLang="de-DE" sz="1600" i="1" dirty="0">
              <a:solidFill>
                <a:srgbClr val="0070C0"/>
              </a:solidFill>
            </a:endParaRPr>
          </a:p>
          <a:p>
            <a:endParaRPr lang="en-US" altLang="de-DE" sz="1600" i="1" dirty="0">
              <a:solidFill>
                <a:srgbClr val="0070C0"/>
              </a:solidFill>
            </a:endParaRPr>
          </a:p>
        </p:txBody>
      </p:sp>
      <p:sp>
        <p:nvSpPr>
          <p:cNvPr id="6" name="Inhaltsplatzhalter 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697412" y="1296000"/>
            <a:ext cx="3784601" cy="416880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altLang="de-DE" sz="1600" i="1" dirty="0">
              <a:solidFill>
                <a:srgbClr val="92D050"/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D11C08E-F376-4705-9BB4-E77D669E0BF2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769601" y="1296000"/>
            <a:ext cx="3784601" cy="416880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de-DE" sz="1600" i="1" dirty="0">
                <a:solidFill>
                  <a:srgbClr val="0070C0"/>
                </a:solidFill>
              </a:rPr>
              <a:t>Communication Plan</a:t>
            </a:r>
          </a:p>
          <a:p>
            <a:pPr fontAlgn="auto">
              <a:spcAft>
                <a:spcPts val="0"/>
              </a:spcAft>
            </a:pPr>
            <a:r>
              <a:rPr lang="en-US" altLang="de-DE" sz="1600" i="1" dirty="0">
                <a:solidFill>
                  <a:srgbClr val="0070C0"/>
                </a:solidFill>
              </a:rPr>
              <a:t>Status Report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522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057443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3" imgH="353" progId="TCLayout.ActiveDocument.1">
                  <p:embed/>
                </p:oleObj>
              </mc:Choice>
              <mc:Fallback>
                <p:oleObj name="think-cell Slide" r:id="rId8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>
            <a:spLocks noGrp="1"/>
          </p:cNvSpPr>
          <p:nvPr>
            <p:ph type="body" idx="15"/>
            <p:custDataLst>
              <p:tags r:id="rId4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</a:t>
            </a:r>
            <a:r>
              <a:rPr lang="en-US" dirty="0">
                <a:solidFill>
                  <a:srgbClr val="000000"/>
                </a:solidFill>
              </a:rPr>
              <a:t>&lt; name of project 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sz="2800" dirty="0"/>
              <a:t>Roles</a:t>
            </a:r>
            <a:endParaRPr lang="en-US" sz="2400" dirty="0"/>
          </a:p>
        </p:txBody>
      </p:sp>
      <p:sp>
        <p:nvSpPr>
          <p:cNvPr id="54" name="Content Placeholder 53"/>
          <p:cNvSpPr>
            <a:spLocks noGrp="1"/>
          </p:cNvSpPr>
          <p:nvPr>
            <p:ph idx="1"/>
          </p:nvPr>
        </p:nvSpPr>
        <p:spPr>
          <a:xfrm>
            <a:off x="259080" y="1169233"/>
            <a:ext cx="10656570" cy="4266392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pPr marL="0" lvl="0" indent="0">
              <a:buNone/>
            </a:pPr>
            <a:endParaRPr lang="en-US" i="1" dirty="0">
              <a:solidFill>
                <a:srgbClr val="67B419"/>
              </a:solidFill>
            </a:endParaRPr>
          </a:p>
          <a:p>
            <a:pPr marL="0" lvl="0" indent="0">
              <a:buNone/>
            </a:pPr>
            <a:endParaRPr lang="en-US" i="1" dirty="0">
              <a:solidFill>
                <a:srgbClr val="67B419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3</a:t>
            </a:fld>
            <a:endParaRPr lang="de-DE"/>
          </a:p>
        </p:txBody>
      </p:sp>
      <p:graphicFrame>
        <p:nvGraphicFramePr>
          <p:cNvPr id="8" name="Tabelle 4">
            <a:extLst>
              <a:ext uri="{FF2B5EF4-FFF2-40B4-BE49-F238E27FC236}">
                <a16:creationId xmlns:a16="http://schemas.microsoft.com/office/drawing/2014/main" id="{F28B44EE-32CB-49A9-B939-5814A4C29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95190"/>
              </p:ext>
            </p:extLst>
          </p:nvPr>
        </p:nvGraphicFramePr>
        <p:xfrm>
          <a:off x="322848" y="1295310"/>
          <a:ext cx="7313082" cy="21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6654">
                  <a:extLst>
                    <a:ext uri="{9D8B030D-6E8A-4147-A177-3AD203B41FA5}">
                      <a16:colId xmlns:a16="http://schemas.microsoft.com/office/drawing/2014/main" val="4044953567"/>
                    </a:ext>
                  </a:extLst>
                </a:gridCol>
                <a:gridCol w="2438734">
                  <a:extLst>
                    <a:ext uri="{9D8B030D-6E8A-4147-A177-3AD203B41FA5}">
                      <a16:colId xmlns:a16="http://schemas.microsoft.com/office/drawing/2014/main" val="3918836047"/>
                    </a:ext>
                  </a:extLst>
                </a:gridCol>
                <a:gridCol w="2437694">
                  <a:extLst>
                    <a:ext uri="{9D8B030D-6E8A-4147-A177-3AD203B41FA5}">
                      <a16:colId xmlns:a16="http://schemas.microsoft.com/office/drawing/2014/main" val="3821858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990729"/>
                  </a:ext>
                </a:extLst>
              </a:tr>
              <a:tr h="341944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Customer Sponsor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79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Sponsor (PSM)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06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Project Manager (UD)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19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Project Manager (CI)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301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Quality Manager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37160"/>
                  </a:ext>
                </a:extLst>
              </a:tr>
            </a:tbl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982244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00259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3" imgH="353" progId="TCLayout.ActiveDocument.1">
                  <p:embed/>
                </p:oleObj>
              </mc:Choice>
              <mc:Fallback>
                <p:oleObj name="think-cell Slide" r:id="rId9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sz="280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 pitchFamily="2" charset="0"/>
              <a:ea typeface="+mj-ea"/>
              <a:cs typeface="+mj-cs"/>
              <a:sym typeface="Bosch Office Sans" pitchFamily="2" charset="0"/>
            </a:endParaRPr>
          </a:p>
        </p:txBody>
      </p:sp>
      <p:sp>
        <p:nvSpPr>
          <p:cNvPr id="9" name="Textfeld 8"/>
          <p:cNvSpPr>
            <a:spLocks noGrp="1"/>
          </p:cNvSpPr>
          <p:nvPr>
            <p:ph type="body" idx="15"/>
            <p:custDataLst>
              <p:tags r:id="rId5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</a:t>
            </a:r>
            <a:r>
              <a:rPr lang="en-US" dirty="0">
                <a:solidFill>
                  <a:srgbClr val="000000"/>
                </a:solidFill>
              </a:rPr>
              <a:t>&lt; name of project 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sz="2800" dirty="0"/>
              <a:t>Goals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52F8D1EF-3E39-4A9D-8DDC-DEEA903A0CFE}"/>
              </a:ext>
            </a:extLst>
          </p:cNvPr>
          <p:cNvSpPr txBox="1">
            <a:spLocks/>
          </p:cNvSpPr>
          <p:nvPr/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0" baseline="0">
                <a:solidFill>
                  <a:srgbClr val="999FA6"/>
                </a:solidFill>
                <a:latin typeface="+mn-lt"/>
                <a:ea typeface="+mn-ea"/>
                <a:cs typeface="+mn-cs"/>
              </a:defRPr>
            </a:lvl1pPr>
            <a:lvl2pPr marL="41113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2pPr>
            <a:lvl3pPr marL="8222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3pPr>
            <a:lvl4pPr marL="123341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4pPr>
            <a:lvl5pPr marL="16445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5pPr>
            <a:lvl6pPr marL="2055686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6pPr>
            <a:lvl7pPr marL="2466823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7pPr>
            <a:lvl8pPr marL="2877960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8pPr>
            <a:lvl9pPr marL="3289097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9pPr>
          </a:lstStyle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F0804A6-E551-4F56-94AE-F020A2ED6FB2}"/>
              </a:ext>
            </a:extLst>
          </p:cNvPr>
          <p:cNvGrpSpPr/>
          <p:nvPr/>
        </p:nvGrpSpPr>
        <p:grpSpPr>
          <a:xfrm>
            <a:off x="489527" y="1093652"/>
            <a:ext cx="10145463" cy="4497662"/>
            <a:chOff x="489527" y="1093652"/>
            <a:chExt cx="10145463" cy="4497662"/>
          </a:xfrm>
        </p:grpSpPr>
        <p:sp>
          <p:nvSpPr>
            <p:cNvPr id="35" name="Rectangle 11">
              <a:extLst>
                <a:ext uri="{FF2B5EF4-FFF2-40B4-BE49-F238E27FC236}">
                  <a16:creationId xmlns:a16="http://schemas.microsoft.com/office/drawing/2014/main" id="{2D263178-B6C7-4D11-B864-A0D44AB5B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990" y="3293654"/>
              <a:ext cx="10080000" cy="45719"/>
            </a:xfrm>
            <a:prstGeom prst="rect">
              <a:avLst/>
            </a:prstGeom>
            <a:solidFill>
              <a:srgbClr val="425C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/>
              <a:endParaRPr lang="en-GB" altLang="de-DE">
                <a:solidFill>
                  <a:srgbClr val="000000"/>
                </a:solidFill>
              </a:endParaRPr>
            </a:p>
          </p:txBody>
        </p:sp>
        <p:sp>
          <p:nvSpPr>
            <p:cNvPr id="36" name="Rectangle 13_">
              <a:extLst>
                <a:ext uri="{FF2B5EF4-FFF2-40B4-BE49-F238E27FC236}">
                  <a16:creationId xmlns:a16="http://schemas.microsoft.com/office/drawing/2014/main" id="{558EEC24-6492-4C34-B02D-3816CDFFD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861" y="1093652"/>
              <a:ext cx="3528000" cy="275081"/>
            </a:xfrm>
            <a:prstGeom prst="rect">
              <a:avLst/>
            </a:prstGeom>
            <a:solidFill>
              <a:srgbClr val="B0BBD0">
                <a:alpha val="50195"/>
              </a:srgbClr>
            </a:solidFill>
            <a:ln w="1117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/>
              <a:endParaRPr lang="en-GB" altLang="de-DE">
                <a:solidFill>
                  <a:srgbClr val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7B7ADE-8DD4-484F-A23B-5677562B0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756" y="1154263"/>
              <a:ext cx="1550211" cy="160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en-US" altLang="de-DE" sz="1061" b="1" dirty="0">
                  <a:solidFill>
                    <a:srgbClr val="000000"/>
                  </a:solidFill>
                </a:rPr>
                <a:t>Purpose/Business Need</a:t>
              </a:r>
            </a:p>
          </p:txBody>
        </p:sp>
        <p:sp>
          <p:nvSpPr>
            <p:cNvPr id="38" name="Rectangle 15_">
              <a:extLst>
                <a:ext uri="{FF2B5EF4-FFF2-40B4-BE49-F238E27FC236}">
                  <a16:creationId xmlns:a16="http://schemas.microsoft.com/office/drawing/2014/main" id="{CD1B01BD-09FB-4AC4-AEDE-03A635E2F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0240" y="1093652"/>
              <a:ext cx="3528000" cy="275081"/>
            </a:xfrm>
            <a:prstGeom prst="rect">
              <a:avLst/>
            </a:prstGeom>
            <a:solidFill>
              <a:srgbClr val="B0BBD0">
                <a:alpha val="50195"/>
              </a:srgbClr>
            </a:solidFill>
            <a:ln w="1117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/>
              <a:endParaRPr lang="en-GB" altLang="de-DE">
                <a:solidFill>
                  <a:srgbClr val="000000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3EC9D2D-5FFB-4A99-8B34-E7EC3A270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9778" y="1154263"/>
              <a:ext cx="1748925" cy="102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061" b="1" dirty="0">
                  <a:solidFill>
                    <a:srgbClr val="000000"/>
                  </a:solidFill>
                </a:rPr>
                <a:t>Sponsor/Stakeholder/User 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5000B2C-FD73-417A-8FDE-39A07B0F9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861" y="5316232"/>
              <a:ext cx="3528000" cy="275082"/>
            </a:xfrm>
            <a:prstGeom prst="rect">
              <a:avLst/>
            </a:prstGeom>
            <a:solidFill>
              <a:srgbClr val="B0BBD0">
                <a:alpha val="50195"/>
              </a:srgbClr>
            </a:solidFill>
            <a:ln w="1117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/>
              <a:endParaRPr lang="en-GB" altLang="de-DE">
                <a:solidFill>
                  <a:srgbClr val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4B52F60-640B-443D-AB33-0FD81D43E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3959" y="5384963"/>
              <a:ext cx="439805" cy="160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061" b="1" dirty="0">
                  <a:solidFill>
                    <a:srgbClr val="000000"/>
                  </a:solidFill>
                </a:rPr>
                <a:t>Results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85677F8-8F10-4B9E-8E36-88E668E61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0240" y="5316232"/>
              <a:ext cx="3528000" cy="275082"/>
            </a:xfrm>
            <a:prstGeom prst="rect">
              <a:avLst/>
            </a:prstGeom>
            <a:solidFill>
              <a:srgbClr val="B0BBD0">
                <a:alpha val="50195"/>
              </a:srgbClr>
            </a:solidFill>
            <a:ln w="1117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/>
              <a:endParaRPr lang="en-GB" altLang="de-DE">
                <a:solidFill>
                  <a:srgbClr val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031BE33-F095-4126-A6C4-42E33CB5F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3570" y="5384963"/>
              <a:ext cx="1241341" cy="160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061" b="1" dirty="0">
                  <a:solidFill>
                    <a:srgbClr val="000000"/>
                  </a:solidFill>
                </a:rPr>
                <a:t>Criteria for success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CDEA391-4778-4295-B7E6-454E1E9DD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663" y="2349029"/>
              <a:ext cx="1944000" cy="1944000"/>
            </a:xfrm>
            <a:prstGeom prst="ellips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/>
              <a:endParaRPr lang="en-GB" altLang="de-DE">
                <a:solidFill>
                  <a:srgbClr val="00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05F68D9-D735-4808-BEA2-82F0F2921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491" y="1136927"/>
              <a:ext cx="23337" cy="4419956"/>
            </a:xfrm>
            <a:prstGeom prst="rect">
              <a:avLst/>
            </a:prstGeom>
            <a:solidFill>
              <a:srgbClr val="425C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/>
              <a:endParaRPr lang="en-GB" altLang="de-DE">
                <a:solidFill>
                  <a:srgbClr val="000000"/>
                </a:solidFill>
              </a:endParaRPr>
            </a:p>
          </p:txBody>
        </p:sp>
        <p:sp>
          <p:nvSpPr>
            <p:cNvPr id="46" name="Text Box 24">
              <a:extLst>
                <a:ext uri="{FF2B5EF4-FFF2-40B4-BE49-F238E27FC236}">
                  <a16:creationId xmlns:a16="http://schemas.microsoft.com/office/drawing/2014/main" id="{12DD9952-FE05-4EC2-B92D-DCAB4F716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27" y="3418817"/>
              <a:ext cx="3933145" cy="1947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marL="92075" indent="-92075">
                <a:lnSpc>
                  <a:spcPct val="100000"/>
                </a:lnSpc>
                <a:spcBef>
                  <a:spcPct val="50000"/>
                </a:spcBef>
                <a:buClr>
                  <a:srgbClr val="000000"/>
                </a:buClr>
                <a:buSzPts val="1157"/>
                <a:buFont typeface="Bosch Office Sans" panose="020B0604020202020204" pitchFamily="34" charset="0"/>
                <a:buChar char="•"/>
                <a:defRPr/>
              </a:pPr>
              <a:endParaRPr lang="de-DE" altLang="de-DE" sz="1100" i="1" dirty="0">
                <a:solidFill>
                  <a:srgbClr val="0070C0"/>
                </a:solidFill>
              </a:endParaRPr>
            </a:p>
          </p:txBody>
        </p:sp>
        <p:sp>
          <p:nvSpPr>
            <p:cNvPr id="47" name="Text Box 25">
              <a:extLst>
                <a:ext uri="{FF2B5EF4-FFF2-40B4-BE49-F238E27FC236}">
                  <a16:creationId xmlns:a16="http://schemas.microsoft.com/office/drawing/2014/main" id="{D748477D-3F08-41D3-8CED-D0EA25C39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27" y="1509576"/>
              <a:ext cx="4088334" cy="1681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87313" indent="-87313"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ct val="50000"/>
                </a:spcBef>
                <a:buClr>
                  <a:srgbClr val="000000"/>
                </a:buClr>
                <a:buSzPts val="1157"/>
                <a:buNone/>
                <a:defRPr/>
              </a:pPr>
              <a:endParaRPr lang="en-US" altLang="de-DE" sz="1100" i="1" dirty="0"/>
            </a:p>
          </p:txBody>
        </p:sp>
        <p:sp>
          <p:nvSpPr>
            <p:cNvPr id="48" name="Text Box 26">
              <a:extLst>
                <a:ext uri="{FF2B5EF4-FFF2-40B4-BE49-F238E27FC236}">
                  <a16:creationId xmlns:a16="http://schemas.microsoft.com/office/drawing/2014/main" id="{C5D75AD6-C9EE-4A01-ABCD-B6D2F619D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672" y="2814077"/>
              <a:ext cx="676781" cy="259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157" dirty="0">
                  <a:solidFill>
                    <a:srgbClr val="000000"/>
                  </a:solidFill>
                </a:rPr>
                <a:t>Why?</a:t>
              </a:r>
            </a:p>
          </p:txBody>
        </p:sp>
        <p:sp>
          <p:nvSpPr>
            <p:cNvPr id="49" name="Text Box 27">
              <a:extLst>
                <a:ext uri="{FF2B5EF4-FFF2-40B4-BE49-F238E27FC236}">
                  <a16:creationId xmlns:a16="http://schemas.microsoft.com/office/drawing/2014/main" id="{8C787FBA-C5C6-4F65-9151-96DBE7833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896" y="2814077"/>
              <a:ext cx="1114354" cy="259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157" dirty="0">
                  <a:solidFill>
                    <a:srgbClr val="000000"/>
                  </a:solidFill>
                </a:rPr>
                <a:t>For whom?</a:t>
              </a:r>
            </a:p>
          </p:txBody>
        </p:sp>
        <p:sp>
          <p:nvSpPr>
            <p:cNvPr id="50" name="Text Box 28">
              <a:extLst>
                <a:ext uri="{FF2B5EF4-FFF2-40B4-BE49-F238E27FC236}">
                  <a16:creationId xmlns:a16="http://schemas.microsoft.com/office/drawing/2014/main" id="{7CD8505C-71F5-4E9F-92F4-DC5B229F8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672" y="3317616"/>
              <a:ext cx="1081292" cy="60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157" dirty="0">
                  <a:solidFill>
                    <a:srgbClr val="000000"/>
                  </a:solidFill>
                </a:rPr>
                <a:t>What 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157" dirty="0">
                  <a:solidFill>
                    <a:srgbClr val="000000"/>
                  </a:solidFill>
                </a:rPr>
                <a:t>should be 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157" dirty="0">
                  <a:solidFill>
                    <a:srgbClr val="000000"/>
                  </a:solidFill>
                </a:rPr>
                <a:t>achieved? </a:t>
              </a:r>
            </a:p>
          </p:txBody>
        </p:sp>
        <p:sp>
          <p:nvSpPr>
            <p:cNvPr id="51" name="Text Box 29">
              <a:extLst>
                <a:ext uri="{FF2B5EF4-FFF2-40B4-BE49-F238E27FC236}">
                  <a16:creationId xmlns:a16="http://schemas.microsoft.com/office/drawing/2014/main" id="{9A821AF1-8EF0-4E7C-97C0-9738891FC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896" y="3317616"/>
              <a:ext cx="1153249" cy="60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lnSpc>
                  <a:spcPct val="111000"/>
                </a:lnSpc>
                <a:buClr>
                  <a:srgbClr val="3A5A82"/>
                </a:buClr>
                <a:buSzPct val="65000"/>
                <a:buFont typeface="Wingdings" panose="05000000000000000000" pitchFamily="2" charset="2"/>
                <a:buChar char="è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1pPr>
              <a:lvl2pPr marL="742950" indent="-28575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2pPr>
              <a:lvl3pPr marL="11430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3pPr>
              <a:lvl4pPr marL="16002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4pPr>
              <a:lvl5pPr marL="2057400" indent="-228600">
                <a:lnSpc>
                  <a:spcPct val="111000"/>
                </a:lnSpc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1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A5A82"/>
                </a:buClr>
                <a:buSzPct val="50000"/>
                <a:buFont typeface="Wingdings" panose="05000000000000000000" pitchFamily="2" charset="2"/>
                <a:buChar char=""/>
                <a:defRPr>
                  <a:solidFill>
                    <a:schemeClr val="tx1"/>
                  </a:solidFill>
                  <a:latin typeface="Bosch Office Sans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157" dirty="0">
                  <a:solidFill>
                    <a:srgbClr val="000000"/>
                  </a:solidFill>
                </a:rPr>
                <a:t>How do we 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157" dirty="0">
                  <a:solidFill>
                    <a:srgbClr val="000000"/>
                  </a:solidFill>
                </a:rPr>
                <a:t>measure 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de-DE" altLang="de-DE" sz="1157" dirty="0">
                  <a:solidFill>
                    <a:srgbClr val="000000"/>
                  </a:solidFill>
                </a:rPr>
                <a:t>the result?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396939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sz="2800" dirty="0"/>
              <a:t>Scope description</a:t>
            </a:r>
          </a:p>
        </p:txBody>
      </p:sp>
      <p:sp>
        <p:nvSpPr>
          <p:cNvPr id="14" name="Textfeld 13"/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</a:t>
            </a:r>
            <a:r>
              <a:rPr lang="en-US" dirty="0">
                <a:solidFill>
                  <a:srgbClr val="000000"/>
                </a:solidFill>
              </a:rPr>
              <a:t>&lt;name of project&gt;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quarter" idx="1"/>
            <p:custDataLst>
              <p:tags r:id="rId5"/>
            </p:custDataLst>
          </p:nvPr>
        </p:nvSpPr>
        <p:spPr>
          <a:xfrm>
            <a:off x="259200" y="1143599"/>
            <a:ext cx="10450800" cy="4379013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High-level description of activity scope (deliverables), e.g.</a:t>
            </a:r>
            <a:endParaRPr lang="en-US" sz="1800" i="1" dirty="0">
              <a:solidFill>
                <a:srgbClr val="0070C0"/>
              </a:solidFill>
            </a:endParaRPr>
          </a:p>
          <a:p>
            <a:pPr marL="508933" lvl="2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latin typeface="Bosch Office Sans" pitchFamily="34" charset="0"/>
              </a:rPr>
              <a:t>…</a:t>
            </a:r>
          </a:p>
          <a:p>
            <a:endParaRPr lang="en-US" i="1" dirty="0">
              <a:solidFill>
                <a:srgbClr val="0070C0"/>
              </a:solidFill>
            </a:endParaRPr>
          </a:p>
          <a:p>
            <a:pPr marL="251982" lvl="1" indent="-251982">
              <a:lnSpc>
                <a:spcPct val="107000"/>
              </a:lnSpc>
            </a:pPr>
            <a:r>
              <a:rPr lang="en-US" sz="1800" i="1" dirty="0">
                <a:solidFill>
                  <a:srgbClr val="0070C0"/>
                </a:solidFill>
              </a:rPr>
              <a:t>Out of scope of the activity</a:t>
            </a:r>
          </a:p>
          <a:p>
            <a:pPr marL="508933" lvl="2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latin typeface="Bosch Office Sans" pitchFamily="34" charset="0"/>
              </a:rPr>
              <a:t>…</a:t>
            </a:r>
          </a:p>
          <a:p>
            <a:pPr marL="508933" lvl="2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endParaRPr lang="en-US" sz="1600" i="1" dirty="0">
              <a:latin typeface="Bosch Office Sans" pitchFamily="34" charset="0"/>
            </a:endParaRPr>
          </a:p>
          <a:p>
            <a:pPr marL="508933" lvl="2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endParaRPr lang="en-US" sz="1600" i="1" dirty="0">
              <a:latin typeface="Bosch Office Sans" pitchFamily="34" charset="0"/>
            </a:endParaRPr>
          </a:p>
          <a:p>
            <a:pPr marL="285750" lvl="1" indent="-285750">
              <a:lnSpc>
                <a:spcPct val="107000"/>
              </a:lnSpc>
            </a:pPr>
            <a:endParaRPr lang="en-US" sz="1800" i="1" dirty="0">
              <a:solidFill>
                <a:srgbClr val="0070C0"/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84744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>
          <a:xfrm>
            <a:off x="243764" y="163178"/>
            <a:ext cx="10450800" cy="38880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&lt;</a:t>
            </a:r>
            <a:r>
              <a:rPr lang="en-US" dirty="0">
                <a:solidFill>
                  <a:srgbClr val="000000"/>
                </a:solidFill>
              </a:rPr>
              <a:t>name of project</a:t>
            </a:r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&gt;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43764" y="551978"/>
            <a:ext cx="10450800" cy="38880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sz="2800" dirty="0"/>
              <a:t>Solution Proposal (</a:t>
            </a:r>
            <a:r>
              <a:rPr lang="en-US" altLang="de-DE" sz="2800" dirty="0">
                <a:solidFill>
                  <a:srgbClr val="0070C0"/>
                </a:solidFill>
              </a:rPr>
              <a:t>Architecture)</a:t>
            </a:r>
            <a:endParaRPr lang="en-US" sz="28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6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9753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&lt;</a:t>
            </a:r>
            <a:r>
              <a:rPr lang="en-US" dirty="0">
                <a:solidFill>
                  <a:srgbClr val="000000"/>
                </a:solidFill>
              </a:rPr>
              <a:t>name of project</a:t>
            </a:r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&gt;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/>
              <a:t>Business Case</a:t>
            </a:r>
            <a:endParaRPr lang="en-US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259079" y="1295400"/>
            <a:ext cx="10710545" cy="416814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de-DE" i="1" dirty="0">
                <a:solidFill>
                  <a:srgbClr val="0070C0"/>
                </a:solidFill>
              </a:rPr>
              <a:t>…</a:t>
            </a:r>
            <a:endParaRPr lang="en-US" altLang="de-DE" i="1" dirty="0"/>
          </a:p>
          <a:p>
            <a:pPr marL="0" indent="0">
              <a:buNone/>
            </a:pPr>
            <a:br>
              <a:rPr lang="en-US" i="1" dirty="0">
                <a:solidFill>
                  <a:srgbClr val="0070C0"/>
                </a:solidFill>
              </a:rPr>
            </a:br>
            <a:endParaRPr lang="en-US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i="1" dirty="0">
              <a:solidFill>
                <a:srgbClr val="0070C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177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&lt;</a:t>
            </a:r>
            <a:r>
              <a:rPr lang="en-US" dirty="0">
                <a:solidFill>
                  <a:srgbClr val="000000"/>
                </a:solidFill>
              </a:rPr>
              <a:t>name of project</a:t>
            </a:r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&gt;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Governance (Process &amp; IT Architecture)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259080" y="1295400"/>
            <a:ext cx="10452100" cy="416814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Describe how the </a:t>
            </a:r>
            <a:r>
              <a:rPr lang="en-US" b="1" i="1" dirty="0">
                <a:solidFill>
                  <a:srgbClr val="0070C0"/>
                </a:solidFill>
              </a:rPr>
              <a:t>process governance </a:t>
            </a:r>
            <a:r>
              <a:rPr lang="en-US" i="1" dirty="0">
                <a:solidFill>
                  <a:srgbClr val="0070C0"/>
                </a:solidFill>
              </a:rPr>
              <a:t>by the user department is assured</a:t>
            </a:r>
          </a:p>
          <a:p>
            <a:pPr marL="233983" lvl="1" indent="0">
              <a:buNone/>
            </a:pPr>
            <a:r>
              <a:rPr lang="en-US" sz="1800" i="1" dirty="0"/>
              <a:t>…</a:t>
            </a:r>
          </a:p>
          <a:p>
            <a:pPr lvl="1"/>
            <a:endParaRPr lang="en-US" sz="1800" i="1" dirty="0">
              <a:solidFill>
                <a:srgbClr val="FF0000"/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Describe how the alignment with </a:t>
            </a:r>
            <a:r>
              <a:rPr lang="en-US" b="1" i="1" dirty="0">
                <a:solidFill>
                  <a:srgbClr val="0070C0"/>
                </a:solidFill>
              </a:rPr>
              <a:t>IT architecture </a:t>
            </a:r>
            <a:r>
              <a:rPr lang="en-US" i="1" dirty="0">
                <a:solidFill>
                  <a:srgbClr val="0070C0"/>
                </a:solidFill>
              </a:rPr>
              <a:t>is assured</a:t>
            </a:r>
          </a:p>
          <a:p>
            <a:pPr marL="233983" lvl="1" indent="0">
              <a:buNone/>
            </a:pPr>
            <a:r>
              <a:rPr lang="en-US" sz="1800" i="1" dirty="0"/>
              <a:t>…</a:t>
            </a:r>
            <a:endParaRPr lang="en-US" sz="2000" i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8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436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</a:t>
            </a:r>
            <a:r>
              <a:rPr lang="en-US" dirty="0">
                <a:solidFill>
                  <a:srgbClr val="000000"/>
                </a:solidFill>
              </a:rPr>
              <a:t>&lt;name of project&gt;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sz="2800" dirty="0"/>
              <a:t>Assumptions, Constraints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259080" y="1295400"/>
            <a:ext cx="10452100" cy="416814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Assumptions</a:t>
            </a:r>
            <a:br>
              <a:rPr lang="en-US" i="1" dirty="0">
                <a:solidFill>
                  <a:srgbClr val="000000"/>
                </a:solidFill>
              </a:rPr>
            </a:br>
            <a:r>
              <a:rPr lang="en-US" sz="1600" i="1" dirty="0">
                <a:solidFill>
                  <a:srgbClr val="0070C0"/>
                </a:solidFill>
              </a:rPr>
              <a:t>…</a:t>
            </a:r>
            <a:br>
              <a:rPr lang="en-US" sz="1600" i="1" dirty="0">
                <a:solidFill>
                  <a:srgbClr val="0070C0"/>
                </a:solidFill>
              </a:rPr>
            </a:br>
            <a:endParaRPr lang="en-US" sz="1600" i="1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Constraints, Dependencies</a:t>
            </a:r>
            <a:br>
              <a:rPr lang="en-US" i="1" dirty="0">
                <a:solidFill>
                  <a:srgbClr val="000000"/>
                </a:solidFill>
              </a:rPr>
            </a:br>
            <a:r>
              <a:rPr lang="en-US" i="1" dirty="0">
                <a:solidFill>
                  <a:srgbClr val="000000"/>
                </a:solidFill>
              </a:rPr>
              <a:t>…</a:t>
            </a:r>
            <a:endParaRPr lang="en-US" sz="1400" i="1" dirty="0">
              <a:solidFill>
                <a:srgbClr val="92D05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9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0654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</a:t>
            </a:r>
            <a:r>
              <a:rPr lang="en-US" dirty="0">
                <a:solidFill>
                  <a:srgbClr val="000000"/>
                </a:solidFill>
              </a:rPr>
              <a:t>&lt;name of project&gt;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/>
              <a:t>Development approach</a:t>
            </a:r>
            <a:endParaRPr lang="en-US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98AEC0-503E-4FA4-859C-D0F72D6E3F79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999FA6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999FA6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Inhaltsplatzhalt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259079" y="1295400"/>
            <a:ext cx="10710545" cy="416814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i="1" dirty="0"/>
              <a:t>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4242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</a:t>
            </a:r>
            <a:r>
              <a:rPr lang="en-US" dirty="0">
                <a:solidFill>
                  <a:srgbClr val="000000"/>
                </a:solidFill>
              </a:rPr>
              <a:t>&lt;name of project&gt;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sz="2800" dirty="0"/>
              <a:t>Risks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182254" y="1109171"/>
            <a:ext cx="10452100" cy="416814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br>
              <a:rPr lang="en-US" dirty="0">
                <a:solidFill>
                  <a:srgbClr val="000000"/>
                </a:solidFill>
              </a:rPr>
            </a:b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11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892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</a:t>
            </a:r>
            <a:r>
              <a:rPr lang="en-US" dirty="0">
                <a:solidFill>
                  <a:srgbClr val="000000"/>
                </a:solidFill>
              </a:rPr>
              <a:t>Charter &lt;name of project&gt;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/>
              <a:t>Timeline</a:t>
            </a:r>
            <a:endParaRPr lang="en-US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12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5026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/>
              <a:t>Cost / Budget</a:t>
            </a:r>
            <a:endParaRPr lang="en-US" sz="2800" dirty="0"/>
          </a:p>
        </p:txBody>
      </p:sp>
      <p:sp>
        <p:nvSpPr>
          <p:cNvPr id="9" name="Textfeld 8"/>
          <p:cNvSpPr>
            <a:spLocks noGrp="1"/>
          </p:cNvSpPr>
          <p:nvPr>
            <p:ph type="body" sz="quarter" idx="15"/>
            <p:custDataLst>
              <p:tags r:id="rId3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Charter </a:t>
            </a:r>
            <a:r>
              <a:rPr lang="en-US" dirty="0">
                <a:solidFill>
                  <a:srgbClr val="000000"/>
                </a:solidFill>
              </a:rPr>
              <a:t>&lt;name of project&gt;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13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128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</a:t>
            </a:r>
            <a:r>
              <a:rPr lang="en-US" dirty="0">
                <a:solidFill>
                  <a:srgbClr val="000000"/>
                </a:solidFill>
              </a:rPr>
              <a:t>Charter &lt;name of project&gt;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/>
              <a:t>Resources</a:t>
            </a:r>
            <a:endParaRPr lang="en-US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856029-45ED-6C1C-EE69-3D9C2EE39F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04965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9C88-2DE1-4299-AC3B-F95248F6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Organisation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C0AA2-5895-41FB-9828-CCC71D559D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Project Charter </a:t>
            </a:r>
            <a:r>
              <a:rPr lang="en-US" dirty="0">
                <a:solidFill>
                  <a:srgbClr val="000000"/>
                </a:solidFill>
              </a:rPr>
              <a:t>&lt;name of project&gt;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30033-81A5-42AB-B77E-7810BBBD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405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GB" sz="280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 pitchFamily="2" charset="0"/>
              <a:ea typeface="+mj-ea"/>
              <a:cs typeface="+mj-cs"/>
              <a:sym typeface="Bosch Office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Status Report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Project Charter </a:t>
            </a:r>
            <a:r>
              <a:rPr lang="en-US" dirty="0">
                <a:solidFill>
                  <a:srgbClr val="000000"/>
                </a:solidFill>
              </a:rPr>
              <a:t>&lt;name of project&gt;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86A1C9-0F32-32ED-9265-0F79555432F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11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4501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GB" sz="280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 pitchFamily="2" charset="0"/>
              <a:ea typeface="+mj-ea"/>
              <a:cs typeface="+mj-cs"/>
              <a:sym typeface="Bosch Office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Communication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Project Charter </a:t>
            </a:r>
            <a:r>
              <a:rPr lang="en-US" dirty="0">
                <a:solidFill>
                  <a:srgbClr val="000000"/>
                </a:solidFill>
              </a:rPr>
              <a:t>&lt;name of project&gt;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5485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914400"/>
            <a:r>
              <a:rPr kumimoji="0" lang="en-US" sz="2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Project </a:t>
            </a:r>
            <a:r>
              <a:rPr lang="en-US" dirty="0">
                <a:solidFill>
                  <a:srgbClr val="000000"/>
                </a:solidFill>
              </a:rPr>
              <a:t>Charter &lt;name of project&gt;</a:t>
            </a:r>
            <a:endParaRPr kumimoji="0" lang="en-US" sz="2800" b="0" i="0" u="none" strike="noStrike" kern="0" cap="none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sz="2800" dirty="0"/>
              <a:t>Document-History (Template)</a:t>
            </a:r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418006"/>
              </p:ext>
            </p:extLst>
          </p:nvPr>
        </p:nvGraphicFramePr>
        <p:xfrm>
          <a:off x="266700" y="1112606"/>
          <a:ext cx="9895574" cy="3664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134">
                <a:tc>
                  <a:txBody>
                    <a:bodyPr/>
                    <a:lstStyle>
                      <a:lvl1pPr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1pPr>
                      <a:lvl2pPr marL="742950" indent="-28575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2pPr>
                      <a:lvl3pPr marL="11430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3pPr>
                      <a:lvl4pPr marL="16002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4pPr>
                      <a:lvl5pPr marL="20574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de-DE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Version</a:t>
                      </a:r>
                      <a:endParaRPr kumimoji="0" lang="de-DE" altLang="de-DE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sch Office Sans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1pPr>
                      <a:lvl2pPr marL="742950" indent="-28575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2pPr>
                      <a:lvl3pPr marL="11430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3pPr>
                      <a:lvl4pPr marL="16002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4pPr>
                      <a:lvl5pPr marL="20574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de-DE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Author</a:t>
                      </a:r>
                      <a:endParaRPr kumimoji="0" lang="de-DE" altLang="de-DE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sch Office Sans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1pPr>
                      <a:lvl2pPr marL="742950" indent="-28575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2pPr>
                      <a:lvl3pPr marL="11430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3pPr>
                      <a:lvl4pPr marL="16002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4pPr>
                      <a:lvl5pPr marL="20574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de-DE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Change description</a:t>
                      </a:r>
                      <a:endParaRPr kumimoji="0" lang="de-DE" altLang="de-DE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sch Office Sans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1pPr>
                      <a:lvl2pPr marL="742950" indent="-28575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2pPr>
                      <a:lvl3pPr marL="11430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3pPr>
                      <a:lvl4pPr marL="16002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4pPr>
                      <a:lvl5pPr marL="2057400" indent="-228600">
                        <a:lnSpc>
                          <a:spcPct val="111000"/>
                        </a:lnSpc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Bosch Office Sans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de-DE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Released</a:t>
                      </a:r>
                      <a:endParaRPr kumimoji="0" lang="de-DE" altLang="de-DE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sch Office Sans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1.3.1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CI/PMO-CS1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Adaptation </a:t>
                      </a:r>
                      <a:r>
                        <a:rPr kumimoji="0" lang="de-DE" altLang="de-DE" sz="11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to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new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Corporate Design. </a:t>
                      </a:r>
                      <a:r>
                        <a:rPr kumimoji="0" lang="de-DE" altLang="de-DE" sz="11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No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content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change</a:t>
                      </a:r>
                      <a:endParaRPr kumimoji="0" lang="de-DE" altLang="de-DE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sch Office Sans"/>
                        <a:cs typeface="Times New Roman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20 April 2016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5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1.3.2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CI/PMO-CS1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Adaptation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to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16:9,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removal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of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errors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in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new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design –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change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 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of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colour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via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slide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layout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not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yet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possible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, 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Removal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of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general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information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cs typeface="Times New Roman"/>
                        </a:rPr>
                        <a:t> </a:t>
                      </a:r>
                      <a:r>
                        <a:rPr lang="en-US" altLang="de-DE" sz="1100" i="1" dirty="0">
                          <a:latin typeface="Bosch Office Sans"/>
                        </a:rPr>
                        <a:t>How to handle “Project Charter” template </a:t>
                      </a: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from content slides, no more special </a:t>
                      </a:r>
                      <a:r>
                        <a:rPr kumimoji="0" lang="en-US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colour</a:t>
                      </a: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 for content changes of v. 1.3</a:t>
                      </a:r>
                      <a:r>
                        <a:rPr kumimoji="0" lang="de-DE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, </a:t>
                      </a:r>
                      <a:r>
                        <a:rPr kumimoji="0" lang="de-DE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Redesign</a:t>
                      </a:r>
                      <a:r>
                        <a:rPr kumimoji="0" lang="de-DE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of</a:t>
                      </a:r>
                      <a:r>
                        <a:rPr kumimoji="0" lang="de-DE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costs</a:t>
                      </a:r>
                      <a:r>
                        <a:rPr kumimoji="0" lang="de-DE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 </a:t>
                      </a:r>
                      <a:r>
                        <a:rPr kumimoji="0" lang="de-DE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sch Office Sans"/>
                          <a:ea typeface="+mn-ea"/>
                          <a:cs typeface="Times New Roman"/>
                        </a:rPr>
                        <a:t>section</a:t>
                      </a:r>
                      <a:endParaRPr kumimoji="0" lang="en-US" altLang="de-DE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sch Office Sans"/>
                        <a:ea typeface="+mn-ea"/>
                        <a:cs typeface="Times New Roman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17 August 2016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73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1.3.3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CI/DXP1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de-DE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sch Office Sans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Goal Definition - the headlines of the quadrants must not be changed</a:t>
                      </a:r>
                      <a:b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Cross unit projects - the lead unit has to ensure agreement with all other units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31 August 2017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73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sch Office Sans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CI/PMO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Project Sponsor added, “How to use” added, Project organization  replaced by Project Sponsor(s) and Project Manager(s), RA2 replaced by RA in notes/comments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 PEP 9.4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36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1.5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CI/PMO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Charter reduced to elements compulsory for RA, conversion to </a:t>
                      </a:r>
                      <a:r>
                        <a:rPr kumimoji="0" lang="en-US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eForms</a:t>
                      </a: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NG, notes deleted, how to use on slide 2, </a:t>
                      </a:r>
                      <a:r>
                        <a:rPr kumimoji="0" lang="en-US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futher</a:t>
                      </a: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explanations on </a:t>
                      </a:r>
                      <a:r>
                        <a:rPr kumimoji="0" lang="en-US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ind.slides</a:t>
                      </a: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, inclusion of Business Case, Solution Proposal, Governance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27.02.2019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1.6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CI/PMO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Added the definition of the Development Approach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2020-02-18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038013"/>
                  </a:ext>
                </a:extLst>
              </a:tr>
              <a:tr h="207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1.6.1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CI/PMO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Declaration</a:t>
                      </a:r>
                      <a:r>
                        <a:rPr kumimoji="0" lang="de-DE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de-DE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kumimoji="0" lang="de-DE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de-DE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Intent</a:t>
                      </a:r>
                      <a:r>
                        <a:rPr kumimoji="0" lang="de-DE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de-DE" altLang="de-DE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removed</a:t>
                      </a:r>
                      <a:endParaRPr kumimoji="0" lang="en-US" altLang="de-DE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sch Office Sans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2020-07-01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317"/>
                  </a:ext>
                </a:extLst>
              </a:tr>
              <a:tr h="207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1.6.2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CI/PMO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Correction of footer information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2020-07-15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616977"/>
                  </a:ext>
                </a:extLst>
              </a:tr>
              <a:tr h="207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1.7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CI/PMO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de-DE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Adjustments to replace PMP in Small IT Activities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75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kumimoji="0" lang="de-DE" altLang="de-DE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sch Office Sans" panose="020B0604020202020204" pitchFamily="34" charset="0"/>
                          <a:cs typeface="Times New Roman" panose="02020603050405020304" pitchFamily="18" charset="0"/>
                        </a:rPr>
                        <a:t> IT PEP10.2</a:t>
                      </a:r>
                    </a:p>
                  </a:txBody>
                  <a:tcPr marL="39560" marR="39560" marT="0" marB="0" horzOverflow="overflow">
                    <a:solidFill>
                      <a:srgbClr val="C7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454225"/>
                  </a:ext>
                </a:extLst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18</a:t>
            </a:fld>
            <a:endParaRPr lang="de-DE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709526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TITLEMASTERCOLORSETGROUPCLASSNAME" val="ColorSetGroup4"/>
  <p:tag name="SLIDEMASTERCOLORSETGROUPCLASSNAME" val="ColorSetGroup4"/>
  <p:tag name="SAXCONVERTED" val="1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.acJHPmbBqakV8JskE2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SAXCONVERTED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Agenda"/>
  <p:tag name="NBTXTC" val="Agenda"/>
  <p:tag name="AGTX" val="Agenda"/>
  <p:tag name="AGTXC" val="Agenda"/>
  <p:tag name="SAXCONVERTED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Project Organization"/>
  <p:tag name="NBTXTC" val="Project Organization"/>
  <p:tag name="AGTX" val="Project Organization"/>
  <p:tag name="AGTXC" val="Project Organization"/>
  <p:tag name="SAXCONVERTED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Organizational Scope"/>
  <p:tag name="NBTXTC" val="Organizational Scope"/>
  <p:tag name="AGTX" val="Organizational Scope"/>
  <p:tag name="AGTXC" val="Organizational Scope"/>
  <p:tag name="SAXCONVERTED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jAEguZJY8rARsFRLup6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Functional Scope "/>
  <p:tag name="NBTXTC" val="Functional Scope "/>
  <p:tag name="AGTX" val="Functional Scope "/>
  <p:tag name="AGTXC" val="Functional Scope "/>
  <p:tag name="SAXCONVERTED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Functional Scope "/>
  <p:tag name="NBTXTC" val="Functional Scope "/>
  <p:tag name="AGTX" val="Functional Scope "/>
  <p:tag name="AGTXC" val="Functional Scope "/>
  <p:tag name="SAXCONVERTED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Preconditions/General Framework"/>
  <p:tag name="NBTXTC" val="Preconditions/General Framework"/>
  <p:tag name="AGTX" val="Preconditions/General Framework"/>
  <p:tag name="AGTXC" val="Preconditions/General Framework"/>
  <p:tag name="SAXCONVERTED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Preconditions/General Framework"/>
  <p:tag name="NBTXTC" val="Preconditions/General Framework"/>
  <p:tag name="AGTX" val="Preconditions/General Framework"/>
  <p:tag name="AGTXC" val="Preconditions/General Framework"/>
  <p:tag name="SAXCONVERTED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Assumptions"/>
  <p:tag name="NBTXTC" val="Assumptions"/>
  <p:tag name="AGTX" val="Assumptions"/>
  <p:tag name="AGTXC" val="Assumptions"/>
  <p:tag name="SAXCONVERTED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Preconditions/General Framework"/>
  <p:tag name="NBTXTC" val="Preconditions/General Framework"/>
  <p:tag name="AGTX" val="Preconditions/General Framework"/>
  <p:tag name="AGTXC" val="Preconditions/General Framework"/>
  <p:tag name="SAXCONVERTED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Assumptions"/>
  <p:tag name="NBTXTC" val="Assumptions"/>
  <p:tag name="AGTX" val="Assumptions"/>
  <p:tag name="AGTXC" val="Assumptions"/>
  <p:tag name="SAXCONVERTED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TYLENAME" val="Bodystyle"/>
  <p:tag name="COLORSETGROUPCLASSNAME" val="ColorSetGroup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Project Timeline"/>
  <p:tag name="NBTXTC" val="Project Timeline"/>
  <p:tag name="AGTX" val="Project Timeline"/>
  <p:tag name="AGTXC" val="Project Timeline"/>
  <p:tag name="SAXCONVERTED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Project Timeline"/>
  <p:tag name="NBTXTC" val="Project Timeline"/>
  <p:tag name="AGTX" val="Project Timeline"/>
  <p:tag name="AGTXC" val="Project Timeline"/>
  <p:tag name="SAXCONVERTED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Project Timeline"/>
  <p:tag name="NBTXTC" val="Project Timeline"/>
  <p:tag name="AGTX" val="Project Timeline"/>
  <p:tag name="AGTXC" val="Project Timeline"/>
  <p:tag name="SAXCONVERTED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40nuHJ1wB3aO2TXMvg9r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40nuHJ1wB3aO2TXMvg9r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NBTXT" val="Document-History (Template)"/>
  <p:tag name="NBTXTC" val="Document-History (Template)"/>
  <p:tag name="AGTX" val="Document-History (Template)"/>
  <p:tag name="AGTXC" val="Document-History (Template)"/>
  <p:tag name="SAXCONVERTED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FIELDS" val="CHAPTER;"/>
  <p:tag name="COLORSETGROUPCLASSNAME" val="ColorSetGroup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ETGROUPCLASSNAME" val="ColorSetGroup4"/>
</p:tagLst>
</file>

<file path=ppt/theme/theme1.xml><?xml version="1.0" encoding="utf-8"?>
<a:theme xmlns:a="http://schemas.openxmlformats.org/drawingml/2006/main" name="Bosch NG">
  <a:themeElements>
    <a:clrScheme name="Bosch Light Blue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E78C5"/>
      </a:accent1>
      <a:accent2>
        <a:srgbClr val="6FB9E2"/>
      </a:accent2>
      <a:accent3>
        <a:srgbClr val="B2B3B5"/>
      </a:accent3>
      <a:accent4>
        <a:srgbClr val="424C58"/>
      </a:accent4>
      <a:accent5>
        <a:srgbClr val="08427E"/>
      </a:accent5>
      <a:accent6>
        <a:srgbClr val="6D9ABC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osch2" id="{D645B956-CB9A-4712-AC7D-AC4E9B5C483E}" vid="{7F95C6F7-0F97-4A0C-8B4D-DAB1E670996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osch Light Blue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E78C5"/>
    </a:accent1>
    <a:accent2>
      <a:srgbClr val="6FB9E2"/>
    </a:accent2>
    <a:accent3>
      <a:srgbClr val="B2B3B5"/>
    </a:accent3>
    <a:accent4>
      <a:srgbClr val="424C58"/>
    </a:accent4>
    <a:accent5>
      <a:srgbClr val="08427E"/>
    </a:accent5>
    <a:accent6>
      <a:srgbClr val="6D9ABC"/>
    </a:accent6>
    <a:hlink>
      <a:srgbClr val="738CB4"/>
    </a:hlink>
    <a:folHlink>
      <a:srgbClr val="B0BBD0"/>
    </a:folHlink>
  </a:clrScheme>
</a:themeOverride>
</file>

<file path=ppt/theme/themeOverride2.xml><?xml version="1.0" encoding="utf-8"?>
<a:themeOverride xmlns:a="http://schemas.openxmlformats.org/drawingml/2006/main">
  <a:clrScheme name="Bosch Light Blue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E78C5"/>
    </a:accent1>
    <a:accent2>
      <a:srgbClr val="6FB9E2"/>
    </a:accent2>
    <a:accent3>
      <a:srgbClr val="B2B3B5"/>
    </a:accent3>
    <a:accent4>
      <a:srgbClr val="424C58"/>
    </a:accent4>
    <a:accent5>
      <a:srgbClr val="08427E"/>
    </a:accent5>
    <a:accent6>
      <a:srgbClr val="6D9ABC"/>
    </a:accent6>
    <a:hlink>
      <a:srgbClr val="738CB4"/>
    </a:hlink>
    <a:folHlink>
      <a:srgbClr val="B0BBD0"/>
    </a:folHlink>
  </a:clrScheme>
</a:themeOverride>
</file>

<file path=ppt/theme/themeOverride3.xml><?xml version="1.0" encoding="utf-8"?>
<a:themeOverride xmlns:a="http://schemas.openxmlformats.org/drawingml/2006/main">
  <a:clrScheme name="Bosch Light Blue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E78C5"/>
    </a:accent1>
    <a:accent2>
      <a:srgbClr val="6FB9E2"/>
    </a:accent2>
    <a:accent3>
      <a:srgbClr val="B2B3B5"/>
    </a:accent3>
    <a:accent4>
      <a:srgbClr val="424C58"/>
    </a:accent4>
    <a:accent5>
      <a:srgbClr val="08427E"/>
    </a:accent5>
    <a:accent6>
      <a:srgbClr val="6D9ABC"/>
    </a:accent6>
    <a:hlink>
      <a:srgbClr val="738CB4"/>
    </a:hlink>
    <a:folHlink>
      <a:srgbClr val="B0BBD0"/>
    </a:folHlink>
  </a:clrScheme>
</a:themeOverride>
</file>

<file path=ppt/theme/themeOverride4.xml><?xml version="1.0" encoding="utf-8"?>
<a:themeOverride xmlns:a="http://schemas.openxmlformats.org/drawingml/2006/main">
  <a:clrScheme name="Bosch Light Blue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E78C5"/>
    </a:accent1>
    <a:accent2>
      <a:srgbClr val="6FB9E2"/>
    </a:accent2>
    <a:accent3>
      <a:srgbClr val="B2B3B5"/>
    </a:accent3>
    <a:accent4>
      <a:srgbClr val="424C58"/>
    </a:accent4>
    <a:accent5>
      <a:srgbClr val="08427E"/>
    </a:accent5>
    <a:accent6>
      <a:srgbClr val="6D9ABC"/>
    </a:accent6>
    <a:hlink>
      <a:srgbClr val="738CB4"/>
    </a:hlink>
    <a:folHlink>
      <a:srgbClr val="B0BBD0"/>
    </a:folHlink>
  </a:clrScheme>
</a:themeOverride>
</file>

<file path=ppt/theme/themeOverride5.xml><?xml version="1.0" encoding="utf-8"?>
<a:themeOverride xmlns:a="http://schemas.openxmlformats.org/drawingml/2006/main">
  <a:clrScheme name="Bosch Light Blue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E78C5"/>
    </a:accent1>
    <a:accent2>
      <a:srgbClr val="6FB9E2"/>
    </a:accent2>
    <a:accent3>
      <a:srgbClr val="B2B3B5"/>
    </a:accent3>
    <a:accent4>
      <a:srgbClr val="424C58"/>
    </a:accent4>
    <a:accent5>
      <a:srgbClr val="08427E"/>
    </a:accent5>
    <a:accent6>
      <a:srgbClr val="6D9ABC"/>
    </a:accent6>
    <a:hlink>
      <a:srgbClr val="738CB4"/>
    </a:hlink>
    <a:folHlink>
      <a:srgbClr val="B0BBD0"/>
    </a:folHlink>
  </a:clrScheme>
</a:themeOverride>
</file>

<file path=ppt/theme/themeOverride6.xml><?xml version="1.0" encoding="utf-8"?>
<a:themeOverride xmlns:a="http://schemas.openxmlformats.org/drawingml/2006/main">
  <a:clrScheme name="Bosch Light Green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67B419"/>
    </a:accent1>
    <a:accent2>
      <a:srgbClr val="AEDB7D"/>
    </a:accent2>
    <a:accent3>
      <a:srgbClr val="B2B3B5"/>
    </a:accent3>
    <a:accent4>
      <a:srgbClr val="424C58"/>
    </a:accent4>
    <a:accent5>
      <a:srgbClr val="1399A0"/>
    </a:accent5>
    <a:accent6>
      <a:srgbClr val="6FC9CC"/>
    </a:accent6>
    <a:hlink>
      <a:srgbClr val="738CB4"/>
    </a:hlink>
    <a:folHlink>
      <a:srgbClr val="B0BBD0"/>
    </a:folHlink>
  </a:clrScheme>
</a:themeOverride>
</file>

<file path=ppt/theme/themeOverride7.xml><?xml version="1.0" encoding="utf-8"?>
<a:themeOverride xmlns:a="http://schemas.openxmlformats.org/drawingml/2006/main">
  <a:clrScheme name="Bosch Light Blue">
    <a:dk1>
      <a:sysClr val="windowText" lastClr="000000"/>
    </a:dk1>
    <a:lt1>
      <a:sysClr val="window" lastClr="FFFFFF"/>
    </a:lt1>
    <a:dk2>
      <a:srgbClr val="424C58"/>
    </a:dk2>
    <a:lt2>
      <a:srgbClr val="B2B3B5"/>
    </a:lt2>
    <a:accent1>
      <a:srgbClr val="0E78C5"/>
    </a:accent1>
    <a:accent2>
      <a:srgbClr val="6FB9E2"/>
    </a:accent2>
    <a:accent3>
      <a:srgbClr val="B2B3B5"/>
    </a:accent3>
    <a:accent4>
      <a:srgbClr val="424C58"/>
    </a:accent4>
    <a:accent5>
      <a:srgbClr val="08427E"/>
    </a:accent5>
    <a:accent6>
      <a:srgbClr val="6D9ABC"/>
    </a:accent6>
    <a:hlink>
      <a:srgbClr val="738CB4"/>
    </a:hlink>
    <a:folHlink>
      <a:srgbClr val="B0BB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CI/PMO-EU-Gann</OrgInhalt>
      <Wert>Project Sponsor, Project Manager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 </OrgInhalt>
      <Wert>Internal 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2016. All rights reserved, also regarding any disposal, exploitation, reproduction, editing, distribution, as well as in the event of applications for industrial property rights.</OrgInhalt>
      <Wert>© Robert Bosch GmbH 2016.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date</OrgInhalt>
      <Wert>date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ILMBoschDocument" ma:contentTypeID="0x0101008BC22E5C6BB1884297D61CA9CD41774D01004D3FCCE20506444A85BCD8F5224518F4" ma:contentTypeVersion="13" ma:contentTypeDescription="Bosch Document Content Type for ILM" ma:contentTypeScope="" ma:versionID="b2bf858724db3cade360c89754e02249">
  <xsd:schema xmlns:xsd="http://www.w3.org/2001/XMLSchema" xmlns:xs="http://www.w3.org/2001/XMLSchema" xmlns:p="http://schemas.microsoft.com/office/2006/metadata/properties" xmlns:ns1="http://schemas.microsoft.com/sharepoint/v3" xmlns:ns2="b9e8eb7e-66a2-4db0-99e5-0ff577d117f8" targetNamespace="http://schemas.microsoft.com/office/2006/metadata/properties" ma:root="true" ma:fieldsID="b83f298e4c1c1e319d69180cf7240cc4" ns1:_="" ns2:_="">
    <xsd:import namespace="http://schemas.microsoft.com/sharepoint/v3"/>
    <xsd:import namespace="b9e8eb7e-66a2-4db0-99e5-0ff577d117f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ffbf66e0142e4847b609b5170d9517dc" minOccurs="0"/>
                <xsd:element ref="ns2:TaxCatchAll" minOccurs="0"/>
                <xsd:element ref="ns2:TaxCatchAllLabel" minOccurs="0"/>
                <xsd:element ref="ns2:CSC"/>
                <xsd:element ref="ns2:ASC"/>
                <xsd:element ref="ns2:ISC"/>
                <xsd:element ref="ns2:ArchivingPeriod"/>
                <xsd:element ref="ns2:Safeguarding"/>
                <xsd:element ref="ns2:Historicalrelevance"/>
                <xsd:element ref="ns2:IlmBasedOn" minOccurs="0"/>
                <xsd:element ref="ns2:LockedStatus" minOccurs="0"/>
                <xsd:element ref="ns2:LockedBy" minOccurs="0"/>
                <xsd:element ref="ns2:ILMItemType" minOccurs="0"/>
                <xsd:element ref="ns2:ILMCreationRevision" minOccurs="0"/>
                <xsd:element ref="ns2:Revisions" minOccurs="0"/>
                <xsd:element ref="ns1:RB_DMS_KM_GUID" minOccurs="0"/>
                <xsd:element ref="ns1:RB_DMS_ORIG_NAME" minOccurs="0"/>
                <xsd:element ref="ns1:RB_DMS_SAP_METADATA" minOccurs="0"/>
                <xsd:element ref="ns1:RB_DMS_MIG_HISTORY_FILE_GU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B_DMS_KM_GUID" ma:index="27" nillable="true" ma:displayName="Old GUID" ma:internalName="RB_DMS_KM_GUID" ma:readOnly="false">
      <xsd:simpleType>
        <xsd:restriction base="dms:Text"/>
      </xsd:simpleType>
    </xsd:element>
    <xsd:element name="RB_DMS_ORIG_NAME" ma:index="28" nillable="true" ma:displayName="Original Name" ma:internalName="RB_DMS_ORIG_NAME" ma:readOnly="false">
      <xsd:simpleType>
        <xsd:restriction base="dms:Text"/>
      </xsd:simpleType>
    </xsd:element>
    <xsd:element name="RB_DMS_SAP_METADATA" ma:index="29" nillable="true" ma:displayName="ILM Metadata" ma:internalName="RB_DMS_SAP_METADATA" ma:readOnly="false">
      <xsd:simpleType>
        <xsd:restriction base="dms:Note"/>
      </xsd:simpleType>
    </xsd:element>
    <xsd:element name="RB_DMS_MIG_HISTORY_FILE_GUID" ma:index="30" nillable="true" ma:displayName="History File GUID" ma:internalName="RB_DMS_MIG_HISTORY_FILE_GUID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e8eb7e-66a2-4db0-99e5-0ff577d117f8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ffbf66e0142e4847b609b5170d9517dc" ma:index="11" nillable="true" ma:taxonomy="true" ma:internalName="ffbf66e0142e4847b609b5170d9517dc" ma:taxonomyFieldName="DMSKeywords" ma:displayName="Keywords" ma:fieldId="{ffbf66e0-142e-4847-b609-b5170d9517dc}" ma:sspId="b81b984e-7d9a-4f77-a40b-67f8485df2c3" ma:termSetId="cf0e617a-6477-4fc4-a1a0-2cceceef718a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e524b622-fdd8-46e4-b138-11ebf826d8a2}" ma:internalName="TaxCatchAll" ma:showField="CatchAllData" ma:web="b9e8eb7e-66a2-4db0-99e5-0ff577d117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e524b622-fdd8-46e4-b138-11ebf826d8a2}" ma:internalName="TaxCatchAllLabel" ma:readOnly="true" ma:showField="CatchAllDataLabel" ma:web="b9e8eb7e-66a2-4db0-99e5-0ff577d117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SC" ma:index="15" ma:displayName="C-SC" ma:default="1" ma:description="Security Class for Confidentiality" ma:format="Dropdown" ma:indexed="true" ma:internalName="C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SC" ma:index="16" ma:displayName="A-SC" ma:default="1" ma:description="Security Class for Availability" ma:format="Dropdown" ma:indexed="true" ma:internalName="A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ISC" ma:index="17" ma:displayName="I-SC" ma:default="1" ma:description="Security Class for Integrity" ma:format="Dropdown" ma:internalName="I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rchivingPeriod" ma:index="18" ma:displayName="Archiving Period (in years)" ma:default="15" ma:description="File will be deleted from the archive after end of the archiving" ma:format="Dropdown" ma:indexed="true" ma:internalName="ArchivingPeriod" ma:readOnly="false">
      <xsd:simpleType>
        <xsd:union memberTypes="dms:Text">
          <xsd:simpleType>
            <xsd:restriction base="dms:Choice">
              <xsd:enumeration value="1"/>
              <xsd:enumeration value="3"/>
              <xsd:enumeration value="6"/>
              <xsd:enumeration value="10"/>
              <xsd:enumeration value="15"/>
              <xsd:enumeration value="35"/>
              <xsd:enumeration value="Delete when archiving"/>
              <xsd:enumeration value="infinite"/>
            </xsd:restriction>
          </xsd:simpleType>
        </xsd:union>
      </xsd:simpleType>
    </xsd:element>
    <xsd:element name="Safeguarding" ma:index="19" ma:displayName="Safeguarding" ma:default="No" ma:description="Special safeguarding requirements" ma:format="Dropdown" ma:internalName="Safeguarding" ma:readOnly="false">
      <xsd:simpleType>
        <xsd:restriction base="dms:Choice">
          <xsd:enumeration value="Yes"/>
          <xsd:enumeration value="No"/>
        </xsd:restriction>
      </xsd:simpleType>
    </xsd:element>
    <xsd:element name="Historicalrelevance" ma:index="20" ma:displayName="Historical relevance" ma:default="No" ma:description="Handover to C/CCH" ma:format="Dropdown" ma:internalName="Historicalrelevance" ma:readOnly="false">
      <xsd:simpleType>
        <xsd:restriction base="dms:Choice">
          <xsd:enumeration value="Yes"/>
          <xsd:enumeration value="No"/>
        </xsd:restriction>
      </xsd:simpleType>
    </xsd:element>
    <xsd:element name="IlmBasedOn" ma:index="21" nillable="true" ma:displayName="Based on" ma:internalName="IlmBasedOn" ma:readOnly="true">
      <xsd:simpleType>
        <xsd:restriction base="dms:Text"/>
      </xsd:simpleType>
    </xsd:element>
    <xsd:element name="LockedStatus" ma:index="22" nillable="true" ma:displayName="Locked Status" ma:default="Unlocked" ma:internalName="LockedStatus" ma:readOnly="true">
      <xsd:simpleType>
        <xsd:restriction base="dms:Text"/>
      </xsd:simpleType>
    </xsd:element>
    <xsd:element name="LockedBy" ma:index="23" nillable="true" ma:displayName="Locked By" ma:internalName="Locked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LMItemType" ma:index="24" nillable="true" ma:displayName="ILMItemType" ma:default="ConceptualItem" ma:indexed="true" ma:internalName="ILMItemType" ma:readOnly="true">
      <xsd:simpleType>
        <xsd:restriction base="dms:Text"/>
      </xsd:simpleType>
    </xsd:element>
    <xsd:element name="ILMCreationRevision" ma:index="25" nillable="true" ma:displayName="Creating Revision" ma:internalName="ILMCreationRevision" ma:readOnly="true">
      <xsd:simpleType>
        <xsd:restriction base="dms:Boolean"/>
      </xsd:simpleType>
    </xsd:element>
    <xsd:element name="Revisions" ma:index="26" nillable="true" ma:displayName="Revision set" ma:internalName="Revision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e8eb7e-66a2-4db0-99e5-0ff577d117f8"/>
    <_dlc_DocId xmlns="b9e8eb7e-66a2-4db0-99e5-0ff577d117f8">P01S090191-964218354-290</_dlc_DocId>
    <_dlc_DocIdUrl xmlns="b9e8eb7e-66a2-4db0-99e5-0ff577d117f8">
      <Url>https://sites.inside-share.bosch.com/sites/090191/_layouts/15/DocIdRedir.aspx?ID=P01S090191-964218354-290</Url>
      <Description>P01S090191-964218354-290</Description>
    </_dlc_DocIdUrl>
    <RB_DMS_ORIG_NAME xmlns="http://schemas.microsoft.com/sharepoint/v3">Project_charter_with goal definition_en_PEP-10_NGW_Final-pptx(3).pptx</RB_DMS_ORIG_NAME>
    <RB_DMS_SAP_METADATA xmlns="http://schemas.microsoft.com/sharepoint/v3">{"contenttype":"application/vnd.openxmlformats-officedocument.presentationml.presentation","commentcount":"0","created":"2018-11-23 14:01:25","ImageSource":"/room_extensions_rb/.~system~/versions/49/57/65773132115749/images/Project_charter_with goal definition_en_PEP-10_NGW_Final-pptx(3).pptx.img","description":"Änderung nur in dieser Beschreibung: V ist 1.5 !","feedbackcount":"0","readonly":"false","IconRolloverSource":"/room_extensions_rb/.~system~/versions/49/57/65773132115749/images/Project_charter_with goal definition_en_PEP-10_NGW_Final-pptx(3).pptx.icr","rb_ilm_retention_time":"15","createdby":"wor8si","auto-checkout":"d2765d78-fc00-0010-3a98-a287ecc19b54:66894115861031","etag":"66894115861081","IconSource":"/room_extensions_rb/.~system~/versions/49/57/65773132115749/images/Project_charter_with goal definition_en_PEP-10_NGW_Final-pptx(3).pptx.ico","contentlength":"721613","rb_ilm_type":"misc_15_years","personalnotecount":"0","hidden":"false","modifiedby":"wor8si","modified":"2019-02-28 10:27:26","rb_ilm_security_class":"1","displayname":"Project_charter_with goal definition_en_PEP-10_NGW_Final-pptx(3).pptx","guid":"10bcb8fe-681d-3710-21ba-a2c8f4a90080","rb_historicalRelevance":"No"}</RB_DMS_SAP_METADATA>
    <ffbf66e0142e4847b609b5170d9517dc xmlns="b9e8eb7e-66a2-4db0-99e5-0ff577d117f8">
      <Terms xmlns="http://schemas.microsoft.com/office/infopath/2007/PartnerControls"/>
    </ffbf66e0142e4847b609b5170d9517dc>
    <RB_DMS_KM_GUID xmlns="http://schemas.microsoft.com/sharepoint/v3">4015db74-6a52-3410-08a4-a862bfe5ea1e</RB_DMS_KM_GUID>
    <ASC xmlns="b9e8eb7e-66a2-4db0-99e5-0ff577d117f8">1</ASC>
    <ArchivingPeriod xmlns="b9e8eb7e-66a2-4db0-99e5-0ff577d117f8">15</ArchivingPeriod>
    <CSC xmlns="b9e8eb7e-66a2-4db0-99e5-0ff577d117f8">1</CSC>
    <Historicalrelevance xmlns="b9e8eb7e-66a2-4db0-99e5-0ff577d117f8">No</Historicalrelevance>
    <ISC xmlns="b9e8eb7e-66a2-4db0-99e5-0ff577d117f8">1</ISC>
    <Safeguarding xmlns="b9e8eb7e-66a2-4db0-99e5-0ff577d117f8">No</Safeguarding>
    <Revisions xmlns="b9e8eb7e-66a2-4db0-99e5-0ff577d117f8">
      <Url xsi:nil="true"/>
      <Description xsi:nil="true"/>
    </Revisions>
    <ILMCreationRevision xmlns="b9e8eb7e-66a2-4db0-99e5-0ff577d117f8">false</ILMCreationRevision>
    <IlmBasedOn xmlns="b9e8eb7e-66a2-4db0-99e5-0ff577d117f8" xsi:nil="true"/>
    <LockedStatus xmlns="b9e8eb7e-66a2-4db0-99e5-0ff577d117f8">Unlocked</LockedStatus>
    <ILMItemType xmlns="b9e8eb7e-66a2-4db0-99e5-0ff577d117f8">ConceptualItem</ILMItemType>
  </documentManagement>
</p:properties>
</file>

<file path=customXml/item6.xml><?xml version="1.0" encoding="utf-8"?>
<sax_ColorSelect>
  <Line>
    <Color val="D70012"/>
    <Color val="EA6876"/>
    <Color val="a80163"/>
    <Color val="D067AD"/>
    <Color val="3f136c"/>
    <Color val="967CB1"/>
    <Color val="08427e"/>
    <Color val="6D9ABC"/>
    <Color val="0e78c5"/>
    <Color val="6FB9E2"/>
    <Color val="1399a0"/>
    <Color val="6FC9CC"/>
    <Color val="67b419"/>
    <Color val="AEDB7D"/>
    <Color val="0a5139"/>
    <Color val="6EA293"/>
    <Color val="999FA6"/>
    <Color val="D7D7D7"/>
    <Color val="000000"/>
    <Color val="FFFFFF"/>
  </Line>
</sax_ColorSelect>
</file>

<file path=customXml/itemProps1.xml><?xml version="1.0" encoding="utf-8"?>
<ds:datastoreItem xmlns:ds="http://schemas.openxmlformats.org/officeDocument/2006/customXml" ds:itemID="{C1C8AEF5-7CFE-467C-A841-4E7E467A234F}">
  <ds:schemaRefs/>
</ds:datastoreItem>
</file>

<file path=customXml/itemProps2.xml><?xml version="1.0" encoding="utf-8"?>
<ds:datastoreItem xmlns:ds="http://schemas.openxmlformats.org/officeDocument/2006/customXml" ds:itemID="{BC19C5E5-D28C-4C04-964C-128897C55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9e8eb7e-66a2-4db0-99e5-0ff577d117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973B44-A959-406D-B790-55C9A860923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7A687354-1A21-48A8-9044-1D6B18D8481C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83DE168C-EB38-4300-80EE-072EC5B3BB1B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b9e8eb7e-66a2-4db0-99e5-0ff577d117f8"/>
    <ds:schemaRef ds:uri="http://www.w3.org/XML/1998/namespace"/>
  </ds:schemaRefs>
</ds:datastoreItem>
</file>

<file path=customXml/itemProps6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Bosch</Template>
  <TotalTime>9</TotalTime>
  <Words>624</Words>
  <Application>Microsoft Macintosh PowerPoint</Application>
  <PresentationFormat>Custom</PresentationFormat>
  <Paragraphs>179</Paragraphs>
  <Slides>18</Slides>
  <Notes>15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Bosch Office Sans</vt:lpstr>
      <vt:lpstr>Calibri</vt:lpstr>
      <vt:lpstr>Wingdings</vt:lpstr>
      <vt:lpstr>Wingdings 3</vt:lpstr>
      <vt:lpstr>Bosch NG</vt:lpstr>
      <vt:lpstr>think-cell Slide</vt:lpstr>
      <vt:lpstr>PowerPoint Presentation</vt:lpstr>
      <vt:lpstr>Agenda</vt:lpstr>
      <vt:lpstr>Roles</vt:lpstr>
      <vt:lpstr>Goals</vt:lpstr>
      <vt:lpstr>Scope description</vt:lpstr>
      <vt:lpstr>Solution Proposal (Architecture)</vt:lpstr>
      <vt:lpstr>Business Case</vt:lpstr>
      <vt:lpstr>Governance (Process &amp; IT Architecture)</vt:lpstr>
      <vt:lpstr>Assumptions, Constraints</vt:lpstr>
      <vt:lpstr>Development approach</vt:lpstr>
      <vt:lpstr>Risks</vt:lpstr>
      <vt:lpstr>Timeline</vt:lpstr>
      <vt:lpstr>Cost / Budget</vt:lpstr>
      <vt:lpstr>Resources</vt:lpstr>
      <vt:lpstr>Project Organisation</vt:lpstr>
      <vt:lpstr>Status Report</vt:lpstr>
      <vt:lpstr>Communication Plan</vt:lpstr>
      <vt:lpstr>Document-History (Template)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Wuest Wolfgang (CI/PMO)</dc:creator>
  <cp:lastModifiedBy>Ho Keng Hua (BD/MIL-ICC)</cp:lastModifiedBy>
  <cp:revision>423</cp:revision>
  <dcterms:created xsi:type="dcterms:W3CDTF">2018-01-19T09:06:36Z</dcterms:created>
  <dcterms:modified xsi:type="dcterms:W3CDTF">2026-03-29T09:43:19Z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0x0101008BC22E5C6BB1884297D61CA9CD41774D01004D3FCCE20506444A85BCD8F5224518F4</vt:lpwstr>
  </property>
  <property fmtid="{D5CDD505-2E9C-101B-9397-08002B2CF9AE}" pid="9" name="DMSKeywords">
    <vt:lpwstr/>
  </property>
  <property fmtid="{D5CDD505-2E9C-101B-9397-08002B2CF9AE}" pid="10" name="_dlc_DocIdItemGuid">
    <vt:lpwstr>4268854e-38b5-4743-bb83-0bd28513110d</vt:lpwstr>
  </property>
  <property fmtid="{D5CDD505-2E9C-101B-9397-08002B2CF9AE}" pid="11" name="ecm_ItemDeleteBlockHolders">
    <vt:lpwstr/>
  </property>
  <property fmtid="{D5CDD505-2E9C-101B-9397-08002B2CF9AE}" pid="12" name="_vti_ItemDeclaredRecord">
    <vt:lpwstr/>
  </property>
  <property fmtid="{D5CDD505-2E9C-101B-9397-08002B2CF9AE}" pid="13" name="_vti_ItemHoldRecordStatus">
    <vt:lpwstr/>
  </property>
  <property fmtid="{D5CDD505-2E9C-101B-9397-08002B2CF9AE}" pid="14" name="IconOverlay">
    <vt:lpwstr/>
  </property>
  <property fmtid="{D5CDD505-2E9C-101B-9397-08002B2CF9AE}" pid="15" name="ecm_RecordRestrictions">
    <vt:lpwstr/>
  </property>
  <property fmtid="{D5CDD505-2E9C-101B-9397-08002B2CF9AE}" pid="16" name="ecm_ItemLockHolders">
    <vt:lpwstr/>
  </property>
</Properties>
</file>