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6"/>
  </p:notesMasterIdLst>
  <p:sldIdLst>
    <p:sldId id="256" r:id="rId5"/>
    <p:sldId id="257" r:id="rId4"/>
    <p:sldId id="258" r:id="rId12"/>
    <p:sldId id="259" r:id="rId13"/>
    <p:sldId id="260" r:id="rId14"/>
    <p:sldId id="261" r:id="rId15"/>
    <p:sldId id="262" r:id="rId16"/>
  </p:sldIdLst>
  <p:sldSz cx="10969625" cy="6170613"/>
  <p:notesSz cx="6858000" cy="9144000"/>
  <p:custDataLst>
    <p:tags r:id="rId7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04.04.2026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wmf"/><Relationship Id="rId2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2026-04-04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2026.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496494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Gamma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Bosch Cloud business | Combination model | Stakeholder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303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Seller: Robert Bosch China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Buyer / JV partner: Alibaba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Report date: 05 April 2026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Baseline version: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D83"/>
                </a:solidFill>
              </a:defRPr>
            </a:pPr>
            <a:r>
              <a:t>Management view from the current Gamma baseline outputs</a:t>
            </a:r>
          </a:p>
        </p:txBody>
      </p:sp>
      <p:pic>
        <p:nvPicPr>
          <p:cNvPr id="7" name="Picture 6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82296"/>
            <a:ext cx="1142777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D83"/>
                </a:solidFill>
              </a:defRPr>
            </a:pPr>
            <a:r>
              <a:t>Gamma | 05 Apr 2026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Gamma separates the Bosch Cloud business from Robert Bosch China and establishes the Day 1 operating baseline for a 50/50 JV with Alibaba.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Scope is intentionally lean for Day 1: 5 sites, 250 users, 20 applications, and no SAP. Delivery concentration is therefore on infrastructure, identity, operations, and confidentiality control.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The current status is a pre-start baseline: the schedule, risk register, cost plan, charter, dashboards, and monthly report are complete, but execution is still dependent on legal and disclosure timing.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Executive focus remains on antitrust due diligence, clean-team governance, and early confirmation of shared-service dependencies before mobilization starts on 01 Aug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Scope And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D83"/>
                </a:solidFill>
              </a:defRPr>
            </a:pPr>
            <a:r>
              <a:t>What Gamma must deliver at Day 1</a:t>
            </a:r>
          </a:p>
        </p:txBody>
      </p:sp>
      <p:pic>
        <p:nvPicPr>
          <p:cNvPr id="7" name="Picture 6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82296"/>
            <a:ext cx="1142777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D83"/>
                </a:solidFill>
              </a:defRPr>
            </a:pPr>
            <a:r>
              <a:t>Gamma | 05 Apr 2026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In scope: infrastructure separation, identity and security redesign, service management readiness, transition of 20 applications, and operational handover for 250 users across 5 sites.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Out of scope: SAP, manufacturing / OT, and broad Day 2 transformation beyond the minimum viable JV operating baseline.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Combination model: the project may use interim service continuity during transition, but the target state is a jointly managed JV environment rather than a permanent shared platform.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The 50/50 governance structure requires clear decision rights before QG1 and again before QG4, because ambiguity at either gate would directly erode GoLive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Timeline And Quality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D83"/>
                </a:solidFill>
              </a:defRPr>
            </a:pPr>
            <a:r>
              <a:t>Milestones reconciled to the generated Gamma schedule</a:t>
            </a:r>
          </a:p>
        </p:txBody>
      </p:sp>
      <p:pic>
        <p:nvPicPr>
          <p:cNvPr id="7" name="Picture 6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82296"/>
            <a:ext cx="1142777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D83"/>
                </a:solidFill>
              </a:defRPr>
            </a:pPr>
            <a:r>
              <a:t>Gamma | 05 Apr 2026 | Confidential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8016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/>
                <a:gridCol w="2926080"/>
              </a:tblGrid>
              <a:tr h="56007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B6E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E4ED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B6E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E4ED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QG0 - Mobilization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04 Sep 2026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QG1 - Concept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29 Oct 2026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QG2 and QG3 - Build and test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11 Jan 2027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QG4 - Pre-GoLive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25 Jan 2027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GoLive - Day 1 cutover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01 Feb 2027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QG5 - Project completion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10 May 2027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Closure - Gamma programme archived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31 May 2027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577840"/>
            <a:ext cx="10972800" cy="457200"/>
          </a:xfrm>
          <a:prstGeom prst="roundRect">
            <a:avLst/>
          </a:prstGeom>
          <a:solidFill>
            <a:srgbClr val="E4EDF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003B6E"/>
                </a:solidFill>
              </a:defRPr>
            </a:pPr>
            <a:r>
              <a:t>Key dates: QG1 29 Oct 2026 | GoLive 01 Feb 2027 | QG5 10 May 2027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Budget And Cost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D83"/>
                </a:solidFill>
              </a:defRPr>
            </a:pPr>
            <a:r>
              <a:t>Labour baseline separated from risk-driven contingency</a:t>
            </a:r>
          </a:p>
        </p:txBody>
      </p:sp>
      <p:pic>
        <p:nvPicPr>
          <p:cNvPr id="7" name="Picture 6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82296"/>
            <a:ext cx="1142777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D83"/>
                </a:solidFill>
              </a:defRPr>
            </a:pPr>
            <a:r>
              <a:t>Gamma | 05 Apr 2026 | Confidential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8016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/>
                <a:gridCol w="292608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B6E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E4ED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B6E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E4ED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PROGRAMME MANAGEMENT &amp;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EUR 585,000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INFRASTRUCTURE &amp;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EUR 502,040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OPERATIONS &amp; HYPERCARE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EUR 284,400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LEGAL, PROCUREMENT &amp;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EUR 207,240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Labour baseline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EUR 2,164,080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CAPEX / additional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EUR 265,000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577840"/>
            <a:ext cx="10972800" cy="457200"/>
          </a:xfrm>
          <a:prstGeom prst="roundRect">
            <a:avLst/>
          </a:prstGeom>
          <a:solidFill>
            <a:srgbClr val="E4EDF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003B6E"/>
                </a:solidFill>
              </a:defRPr>
            </a:pPr>
            <a:r>
              <a:t>Budget anchor: Labour EUR 2,164,080 | CAPEX / additional EUR 265,000 | Draft baseline for QG1 approval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Top Risks And Management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D83"/>
                </a:solidFill>
              </a:defRPr>
            </a:pPr>
            <a:r>
              <a:t>Threat risks reconciled to the Gamma risk register</a:t>
            </a:r>
          </a:p>
        </p:txBody>
      </p:sp>
      <p:pic>
        <p:nvPicPr>
          <p:cNvPr id="7" name="Picture 6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82296"/>
            <a:ext cx="1142777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D83"/>
                </a:solidFill>
              </a:defRPr>
            </a:pPr>
            <a:r>
              <a:t>Gamma | 05 Apr 2026 | Confidential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8016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731520"/>
                <a:gridCol w="7406640"/>
              </a:tblGrid>
              <a:tr h="746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B6E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E4ED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B6E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E4ED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B6E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E4ED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B6E"/>
                          </a:solidFill>
                        </a:defRPr>
                      </a:pPr>
                      <a:r>
                        <a:t>Executive issue</a:t>
                      </a:r>
                    </a:p>
                  </a:txBody>
                  <a:tcPr>
                    <a:solidFill>
                      <a:srgbClr val="E4ED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Technology, R&amp;D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Previously undocumented shared service dependencies are discovered during build or SIT, requiring late redesign of the target hosting and connectivity model.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Strategy &amp; 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Legal confirmation on JV perimeter and approval mechanics arrives after the 29/10/2026 QG1 concept gate, forcing redesign of Day 1 scope, transition governance, and the interim service model.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Inventory confirmation and dependency mapping remain incomplete by 03/09/2026, causing QG0 output quality gaps and compressing the concept phase.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The reduced UAT group fails to cover critical business and operational scenarios across the 20 applications and the core infrastructure workflows.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Legal &amp;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Sensitive JV information is shared beyond the approved clean-team perimeter during discovery or design workshops, triggering legal escalation and an immediate freeze on collaboration sessions.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577840"/>
            <a:ext cx="10972800" cy="457200"/>
          </a:xfrm>
          <a:prstGeom prst="roundRect">
            <a:avLst/>
          </a:prstGeom>
          <a:solidFill>
            <a:srgbClr val="E4EDF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003B6E"/>
                </a:solidFill>
              </a:defRPr>
            </a:pPr>
            <a:r>
              <a:t>Risk anchors: #5 Technology, R&amp;D (20) | #1 Strategy &amp; Portfolio (16) | #3 Schedule (16) | #8 Quality (16) | #2 Legal &amp; Compliance (15) | #16 Schedule (15)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Decisions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D83"/>
                </a:solidFill>
              </a:defRPr>
            </a:pPr>
            <a:r>
              <a:t>Immediate steerco focus for a clean mobilisation</a:t>
            </a:r>
          </a:p>
        </p:txBody>
      </p:sp>
      <p:pic>
        <p:nvPicPr>
          <p:cNvPr id="7" name="Picture 6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82296"/>
            <a:ext cx="1142777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D83"/>
                </a:solidFill>
              </a:defRPr>
            </a:pPr>
            <a:r>
              <a:t>Gamma | 05 Apr 2026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Confirm the legal and antitrust decision path that will govern clean-team expansion and future stakeholder disclosure.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Approve the named clean-team resource pool across PMO, legal, infrastructure, security, and operations before the 01 Aug 2026 kickoff.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Approve the draft labour baseline and associated contingency reserve for QG1 so that external legal, provider, and readiness support can be activated quickly if needed.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Endorse the principle that Day 1 scope stays intentionally lean - no SAP, no broad Day 2 transformation, and no migration activity after GoLive.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eng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/>
      <Wert/>
      <Platzhalter>False</Platzhalter>
      <DocDatenDialog>True</DocDatenDialog>
      <Label>Authoring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Internal C-SC1</OrgInhalt>
      <Wert>Internal C-SC1</Wert>
      <Platzhalter>False</Platzhalter>
      <DocDatenDialog>True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Internal C-SC1</OrgInhalt>
      <Wert>Internal C-SC1</Wert>
      <Platzhalter>False</Platzhalter>
      <DocDatenDialog>False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Bosch_footer_conf</Sektion>
      <Reihenfolge>0</Reihenfolge>
    </Variable>
    <Variable>
      <Name>copyright</Name>
      <OrgInhalt>© Robert Bosch GmbH 2026. All rights reserved, also regarding any disposal, exploitation, reproduction, editing, distribution, as well as in the event of applications for industrial property rights.</OrgInhalt>
      <Wert>© Robert Bosch GmbH 2026.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2026-04-04</OrgInhalt>
      <Wert>2026-04-04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304CF217-3C90-4AA0-B541-CE45F9BD305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1</Words>
  <Application>Microsoft Office PowerPoint</Application>
  <PresentationFormat>Custom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Bosch Office Sans</vt:lpstr>
      <vt:lpstr>Calibri</vt:lpstr>
      <vt:lpstr>Symbol</vt:lpstr>
      <vt:lpstr>Wingdings</vt:lpstr>
      <vt:lpstr>Bosch 2024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Keng Hua (BD/MIL-ICC)</dc:creator>
  <cp:lastModifiedBy>Ho Keng Hua (BD/MIL-ICC)</cp:lastModifiedBy>
  <cp:revision>1</cp:revision>
  <dcterms:created xsi:type="dcterms:W3CDTF">2026-04-04T13:36:35Z</dcterms:created>
  <dcterms:modified xsi:type="dcterms:W3CDTF">2026-04-04T13:37:24Z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