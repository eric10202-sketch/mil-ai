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6"/>
  </p:notesMasterIdLst>
  <p:sldIdLst>
    <p:sldId id="256" r:id="rId5"/>
    <p:sldId id="257" r:id="rId4"/>
    <p:sldId id="258" r:id="rId12"/>
    <p:sldId id="259" r:id="rId13"/>
    <p:sldId id="260" r:id="rId14"/>
    <p:sldId id="261" r:id="rId15"/>
    <p:sldId id="262" r:id="rId16"/>
  </p:sldIdLst>
  <p:sldSz cx="10969625" cy="6170613"/>
  <p:notesSz cx="6858000" cy="9144000"/>
  <p:custDataLst>
    <p:tags r:id="rId7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04.04.2026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wmf"/><Relationship Id="rId2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2026-04-04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2026.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146304" cy="333756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B5C"/>
                </a:solidFill>
                <a:latin typeface="Aptos"/>
              </a:rPr>
              <a:t>Trinity-CAM (GPT)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5" y="22402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62A3"/>
                </a:solidFill>
                <a:latin typeface="Aptos"/>
              </a:rPr>
              <a:t>Management Stakeholder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2788920"/>
            <a:ext cx="8503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Integration model carve-out from JCI to Bosch via an Infosys-operated merger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4069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Report date: 05 April 2026 | Version 1.1 - Change Request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4389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Aptos"/>
              </a:rPr>
              <a:t>48 sites | 12,000 IT users | 1,800+ applications | GoLive 01 Jan 2028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91072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Seller: Johnson Controls International | Buyer: Robert Bosch GmbH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6291072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Prepared from generated schedule, risk, cost, and status outputs</a:t>
            </a:r>
          </a:p>
        </p:txBody>
      </p:sp>
      <p:pic>
        <p:nvPicPr>
          <p:cNvPr id="12" name="Picture 11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496494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" cy="49834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  <a:latin typeface="Aptos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418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April 2026 change-request view with approved seller-side buffer through 31 Jul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Robert Bosch GmbH | Trinity-CAM carve-out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Report date 05 Apr 2026</a:t>
            </a:r>
          </a:p>
        </p:txBody>
      </p:sp>
      <p:pic>
        <p:nvPicPr>
          <p:cNvPr id="9" name="Picture 8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"/>
            <a:ext cx="1033941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14173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The carve-out transfers the JCI air conditioning business into Bosch using a temporary merger zone operated by Infosys.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All 12,000 users and 1,800+ applications start on the JCI side; the programme therefore depends on a clean JCI to merger-zone to Bosch transition path.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JCI has approved a TSA extension through 31 Jul 2027 so users can remain in the legacy environment while Infosys continues merger-zone build-up.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The derived external labour baseline is EUR 6.26M; CAPEX and contingency decisions remain gated to QG1.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The current register holds 24 threats with the highest exposure concentrated in SAP critical path, merger-zone readiness, and pre-GoLive quality 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481328"/>
            <a:ext cx="1874519" cy="91440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1572768"/>
            <a:ext cx="1655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Programme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8" y="1773936"/>
            <a:ext cx="16550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01 Jul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481328"/>
            <a:ext cx="1874519" cy="91440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65208" y="1572768"/>
            <a:ext cx="1655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GoLive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208" y="1773936"/>
            <a:ext cx="16550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01 Jan 2028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633472"/>
            <a:ext cx="1874519" cy="91440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2724912"/>
            <a:ext cx="1655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926080"/>
            <a:ext cx="16550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01 Apr 2028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2633472"/>
            <a:ext cx="1874519" cy="914400"/>
          </a:xfrm>
          <a:prstGeom prst="roundRect">
            <a:avLst/>
          </a:prstGeom>
          <a:solidFill>
            <a:srgbClr val="FDE7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5208" y="2724912"/>
            <a:ext cx="1655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Top risk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5208" y="2926080"/>
            <a:ext cx="16550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20015"/>
                </a:solidFill>
                <a:latin typeface="Aptos"/>
              </a:rPr>
              <a:t>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3886200"/>
            <a:ext cx="3886200" cy="1691640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4069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Aptos"/>
              </a:rPr>
              <a:t>Management message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4370832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3B5C"/>
                </a:solidFill>
                <a:latin typeface="Aptos"/>
              </a:rPr>
              <a:t>This is a pre-kickoff control baseline rather than an in-flight status deck. The immediate focus is governance stand-up, Infosys onboarding, and QG1 concept maturity.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" cy="49834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  <a:latin typeface="Aptos"/>
              </a:rPr>
              <a:t>Programme Scope &amp;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418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Integration carve-out design for Trinity-CAM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Robert Bosch GmbH | Trinity-CAM carve-out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Report date 05 Apr 2026</a:t>
            </a:r>
          </a:p>
        </p:txBody>
      </p:sp>
      <p:pic>
        <p:nvPicPr>
          <p:cNvPr id="9" name="Picture 8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"/>
            <a:ext cx="1033941" cy="3474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" y="1463040"/>
            <a:ext cx="10972800" cy="100584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66420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03B5C"/>
                </a:solidFill>
                <a:latin typeface="Aptos"/>
              </a:rPr>
              <a:t>JCI source IT -&gt; Infosys merger zone -&gt; Bosch target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6596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ptos"/>
              </a:rPr>
              <a:t>The merger zone is a temporary operational bridge, not the target-state platform.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49834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Seller: Johnson Controls International air conditioning business.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Buyer: Robert Bosch GmbH as sponsor customer and target operating owner.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PMO and methodology lead: KPMG.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Delivery partner: Infosys for merger-zone setup, run, IT services, and migrations.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49834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Global scope covers 48 sites and 12,000 IT users.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Application estate exceeds 1,800 systems including a major SAP landscape.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TSA now supports continuity through 31 Jul 2027 and removes near-term pressure from Bosch without changing the overall programme timeline.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11111"/>
                </a:solidFill>
                <a:latin typeface="Aptos"/>
              </a:rPr>
              <a:t>GoLive marks Day 1 operation in the merger zone; Bosch steady-state handover completes by QG5.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486400"/>
            <a:ext cx="2057400" cy="713232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5577840"/>
            <a:ext cx="18379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779008"/>
            <a:ext cx="1837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48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5486400"/>
            <a:ext cx="2057400" cy="713232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4408" y="5577840"/>
            <a:ext cx="18379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5779008"/>
            <a:ext cx="1837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12,000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5486400"/>
            <a:ext cx="2057400" cy="713232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4688" y="5577840"/>
            <a:ext cx="18379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Applications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5779008"/>
            <a:ext cx="1837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1,800+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5486400"/>
            <a:ext cx="3657600" cy="713232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4968" y="5577840"/>
            <a:ext cx="3438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Delivery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5779008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Integration via temporary merger 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" cy="49834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  <a:latin typeface="Aptos"/>
              </a:rPr>
              <a:t>Integrated Timeline &amp; Stage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418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Dates are read directly from the generated programme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Robert Bosch GmbH | Trinity-CAM carve-out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Report date 05 Apr 2026</a:t>
            </a:r>
          </a:p>
        </p:txBody>
      </p:sp>
      <p:pic>
        <p:nvPicPr>
          <p:cNvPr id="9" name="Picture 8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"/>
            <a:ext cx="1033941" cy="3474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05840" y="2103120"/>
            <a:ext cx="10058400" cy="73152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1874519"/>
            <a:ext cx="256032" cy="256032"/>
          </a:xfrm>
          <a:prstGeom prst="ellipse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399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QG0 - Programme kickoff approved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274320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01 Jul 2026</a:t>
            </a:r>
          </a:p>
        </p:txBody>
      </p:sp>
      <p:sp>
        <p:nvSpPr>
          <p:cNvPr id="14" name="Oval 13"/>
          <p:cNvSpPr/>
          <p:nvPr/>
        </p:nvSpPr>
        <p:spPr>
          <a:xfrm>
            <a:off x="2926080" y="1874519"/>
            <a:ext cx="256032" cy="256032"/>
          </a:xfrm>
          <a:prstGeom prst="ellipse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QG1 - Concept and transition model 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274320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01 Oct 2026</a:t>
            </a:r>
          </a:p>
        </p:txBody>
      </p:sp>
      <p:sp>
        <p:nvSpPr>
          <p:cNvPr id="17" name="Oval 16"/>
          <p:cNvSpPr/>
          <p:nvPr/>
        </p:nvSpPr>
        <p:spPr>
          <a:xfrm>
            <a:off x="4892040" y="1874519"/>
            <a:ext cx="256032" cy="256032"/>
          </a:xfrm>
          <a:prstGeom prst="ellipse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QG2 and QG3 - Build complete and test entry approved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274320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31 Jul 2027</a:t>
            </a:r>
          </a:p>
        </p:txBody>
      </p:sp>
      <p:sp>
        <p:nvSpPr>
          <p:cNvPr id="20" name="Oval 19"/>
          <p:cNvSpPr/>
          <p:nvPr/>
        </p:nvSpPr>
        <p:spPr>
          <a:xfrm>
            <a:off x="6903720" y="1874519"/>
            <a:ext cx="256032" cy="256032"/>
          </a:xfrm>
          <a:prstGeom prst="ellipse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59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QG4 - Pre-GoLive gate approved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274320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10 Dec 2027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0" y="1874519"/>
            <a:ext cx="256032" cy="256032"/>
          </a:xfrm>
          <a:prstGeom prst="ellipse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GoLive - Day 1 cutover to merger zone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274320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01 Jan 2028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1874519"/>
            <a:ext cx="256032" cy="256032"/>
          </a:xfrm>
          <a:prstGeom prst="ellipse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0" y="2286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QG5 - Project completion 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88168" y="274320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ptos"/>
              </a:rPr>
              <a:t>01 Apr 2028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429000"/>
            <a:ext cx="10927080" cy="658368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36118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3B5C"/>
                </a:solidFill>
                <a:latin typeface="Aptos"/>
              </a:rPr>
              <a:t>Phase sequence: Mobilize -&gt; Discover/Design -&gt; Build -&gt; Test/Migrate -&gt; Final Readiness -&gt; Hypercare/Handover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3B5C"/>
                </a:solidFill>
                <a:latin typeface="Aptos"/>
              </a:rPr>
              <a:t>Next 90 days to QG1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6634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01 Jul 2026 to 15 Jul 2026: Stand up PMO, governance cadence, and workstream RACI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02 Jul 2026 to 31 Jul 2026: Onboard Infosys for merger zone delivery and managed services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15 Jul 2026 to 30 Aug 2026: Baseline TSA towers, service owners, and exit principles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11 Jul 2026 to 15 Aug 2026: Define legal perimeter, contracts, and supplier dependencies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5262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QG4 remains separated from GoLive by a controlled final-readiness buffer.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All post-GoLive work is stabilization and Bosch handover only.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11111"/>
                </a:solidFill>
                <a:latin typeface="Aptos"/>
              </a:rPr>
              <a:t>The schedule has no summary-task predecessor defects or gate/date collisions.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" cy="49834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  <a:latin typeface="Aptos"/>
              </a:rPr>
              <a:t>Budget &amp; Cost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418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Derived from the generated labour cost plan and aligned to the risk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Robert Bosch GmbH | Trinity-CAM carve-out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Report date 05 Apr 2026</a:t>
            </a:r>
          </a:p>
        </p:txBody>
      </p:sp>
      <p:pic>
        <p:nvPicPr>
          <p:cNvPr id="9" name="Picture 8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"/>
            <a:ext cx="1033941" cy="3474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" y="1417320"/>
            <a:ext cx="2148840" cy="86868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508760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External labour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709928"/>
            <a:ext cx="1929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EUR 6.26M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417320"/>
            <a:ext cx="2148840" cy="86868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508760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Largest 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709928"/>
            <a:ext cx="1929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EUR 2.49M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1417320"/>
            <a:ext cx="2148840" cy="868680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8" y="1508760"/>
            <a:ext cx="1929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Budget release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1848" y="1709928"/>
            <a:ext cx="19293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QG1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417320"/>
            <a:ext cx="3063240" cy="868680"/>
          </a:xfrm>
          <a:prstGeom prst="roundRect">
            <a:avLst/>
          </a:prstGeom>
          <a:solidFill>
            <a:srgbClr val="FDF5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1508760"/>
            <a:ext cx="2843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Budget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1709928"/>
            <a:ext cx="2843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77600"/>
                </a:solidFill>
                <a:latin typeface="Aptos"/>
              </a:rPr>
              <a:t>Budget baseline remains TBC - to be approved at QG1. The approved TSA extension is treated as schedule buffer and commercial protection, not as labour-plan progress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B5C"/>
                </a:solidFill>
                <a:latin typeface="Aptos"/>
              </a:rPr>
              <a:t>Cost by delivery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926080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KPMG - Architecture and Migration Advisory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953512"/>
            <a:ext cx="2423160" cy="173736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916936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Aptos"/>
              </a:rPr>
              <a:t>EUR 1.33M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456432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Infosys - Platform, Security, and Workplace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483864"/>
            <a:ext cx="2109307" cy="173736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447288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Aptos"/>
              </a:rPr>
              <a:t>EUR 1.15M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86784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KPMG - Programme Governance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4014216"/>
            <a:ext cx="1631767" cy="173736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397764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Aptos"/>
              </a:rPr>
              <a:t>EUR 0.89M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Infosys - Programme and Service Delivery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544568"/>
            <a:ext cx="1521520" cy="173736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4507992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Aptos"/>
              </a:rPr>
              <a:t>EUR 0.83M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047488"/>
            <a:ext cx="2514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Infosys - Application and Data Delivery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5074920"/>
            <a:ext cx="1499880" cy="173736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038344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Aptos"/>
              </a:rPr>
              <a:t>EUR 0.82M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B5C"/>
                </a:solidFill>
                <a:latin typeface="Aptos"/>
              </a:rPr>
              <a:t>Phase concentration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880360"/>
            <a:ext cx="4389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11111"/>
                </a:solidFill>
                <a:latin typeface="Aptos"/>
              </a:rPr>
              <a:t>Phase 1: EUR 1.32M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11111"/>
                </a:solidFill>
                <a:latin typeface="Aptos"/>
              </a:rPr>
              <a:t>Phase 2: EUR 2.49M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11111"/>
                </a:solidFill>
                <a:latin typeface="Aptos"/>
              </a:rPr>
              <a:t>Phase 3: EUR 1.19M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11111"/>
                </a:solidFill>
                <a:latin typeface="Aptos"/>
              </a:rPr>
              <a:t>Phase 4: EUR 0.05M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4709160"/>
            <a:ext cx="4572000" cy="1097280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4873752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Aptos"/>
              </a:rPr>
              <a:t>CAPEX / contingency carried outside labour baseline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5102352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111111"/>
                </a:solidFill>
                <a:latin typeface="Aptos"/>
              </a:rPr>
              <a:t>SAP expert support and rehearsal contingency: 600,000 - 1,200,000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111111"/>
                </a:solidFill>
                <a:latin typeface="Aptos"/>
              </a:rPr>
              <a:t>Merger-zone platform acceleration reserve: 400,000 - 900,000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111111"/>
                </a:solidFill>
                <a:latin typeface="Aptos"/>
              </a:rPr>
              <a:t>Cutover command-center and rollback reserve: 250,000 - 500,000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" cy="49834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  <a:latin typeface="Aptos"/>
              </a:rPr>
              <a:t>Top Risks &amp; Management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418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Prioritization derived from actual probability and impact fields in the GPT risk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Robert Bosch GmbH | Trinity-CAM carve-out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Report date 05 Apr 2026</a:t>
            </a:r>
          </a:p>
        </p:txBody>
      </p:sp>
      <p:pic>
        <p:nvPicPr>
          <p:cNvPr id="9" name="Picture 8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"/>
            <a:ext cx="1033941" cy="3474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" y="1417320"/>
            <a:ext cx="1920240" cy="804672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508760"/>
            <a:ext cx="1700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Open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709928"/>
            <a:ext cx="1700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417320"/>
            <a:ext cx="1920240" cy="804672"/>
          </a:xfrm>
          <a:prstGeom prst="roundRect">
            <a:avLst/>
          </a:prstGeom>
          <a:solidFill>
            <a:srgbClr val="FDE7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1508760"/>
            <a:ext cx="1700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High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1709928"/>
            <a:ext cx="1700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20015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417320"/>
            <a:ext cx="1920240" cy="804672"/>
          </a:xfrm>
          <a:prstGeom prst="roundRect">
            <a:avLst/>
          </a:prstGeom>
          <a:solidFill>
            <a:srgbClr val="FDF5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3208" y="1508760"/>
            <a:ext cx="1700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Medium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1709928"/>
            <a:ext cx="1700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77600"/>
                </a:solidFill>
                <a:latin typeface="Aptos"/>
              </a:rPr>
              <a:t>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417320"/>
            <a:ext cx="3886200" cy="804672"/>
          </a:xfrm>
          <a:prstGeom prst="roundRect">
            <a:avLst/>
          </a:prstGeom>
          <a:solidFill>
            <a:srgbClr val="D9EE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0608" y="1508760"/>
            <a:ext cx="36667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Control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1709928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  <a:latin typeface="Aptos"/>
              </a:rPr>
              <a:t>SAP, merger-zone readiness, wave execution, data 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2560320"/>
            <a:ext cx="10927080" cy="530352"/>
          </a:xfrm>
          <a:prstGeom prst="roundRect">
            <a:avLst/>
          </a:prstGeom>
          <a:solidFill>
            <a:srgbClr val="FDE7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2642615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5C"/>
                </a:solidFill>
                <a:latin typeface="Aptos"/>
              </a:rPr>
              <a:t>R001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633472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SAP carve-out build and system copy into the merger zone reveal shared master data, hard-coded integrations, or sequence...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6334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20015"/>
                </a:solidFill>
                <a:latin typeface="Aptos"/>
              </a:rPr>
              <a:t>Score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63347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KPMG SAP Architect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3347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62A3"/>
                </a:solidFill>
                <a:latin typeface="Aptos"/>
              </a:rPr>
              <a:t>Mitigate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3273552"/>
            <a:ext cx="10927080" cy="530352"/>
          </a:xfrm>
          <a:prstGeom prst="roundRect">
            <a:avLst/>
          </a:prstGeom>
          <a:solidFill>
            <a:srgbClr val="FDE7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335584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5C"/>
                </a:solidFill>
                <a:latin typeface="Aptos"/>
              </a:rPr>
              <a:t>R003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3346704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The programme reaches late November 2027 with unresolved critical defects, incomplete migration evidence, or missing ste...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346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20015"/>
                </a:solidFill>
                <a:latin typeface="Aptos"/>
              </a:rPr>
              <a:t>Score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346704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KPMG PMO Lead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34670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62A3"/>
                </a:solidFill>
                <a:latin typeface="Aptos"/>
              </a:rPr>
              <a:t>Mitigate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3986783"/>
            <a:ext cx="10927080" cy="530352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069079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5C"/>
                </a:solidFill>
                <a:latin typeface="Aptos"/>
              </a:rPr>
              <a:t>R023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59935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Phase 1 architecture and application triage identify a meaningful subset of applications and infrastructure services tha...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059935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B5C"/>
                </a:solidFill>
                <a:latin typeface="Aptos"/>
              </a:rPr>
              <a:t>Score 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4059935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Infosys Cloud Lead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4059935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62A3"/>
                </a:solidFill>
                <a:latin typeface="Aptos"/>
              </a:rPr>
              <a:t>Exploit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4700016"/>
            <a:ext cx="10927080" cy="530352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8231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5C"/>
                </a:solidFill>
                <a:latin typeface="Aptos"/>
              </a:rPr>
              <a:t>R010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4773168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Migration rehearsals expose material data-quality defects in SAP or non-SAP datasets that require manual correction and...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7731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B5C"/>
                </a:solidFill>
                <a:latin typeface="Aptos"/>
              </a:rPr>
              <a:t>Score 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773168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JCI Data Owner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477316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62A3"/>
                </a:solidFill>
                <a:latin typeface="Aptos"/>
              </a:rPr>
              <a:t>Mitigate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5413248"/>
            <a:ext cx="10927080" cy="530352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549554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5C"/>
                </a:solidFill>
                <a:latin typeface="Aptos"/>
              </a:rPr>
              <a:t>R009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54864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Aptos"/>
              </a:rPr>
              <a:t>One or more user waves takes longer than planned because local site readiness, floorwalking support, or device enrollmen...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4864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B5C"/>
                </a:solidFill>
                <a:latin typeface="Aptos"/>
              </a:rPr>
              <a:t>Score 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548640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ptos"/>
              </a:rPr>
              <a:t>Infosys Service Delivery Lead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54864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62A3"/>
                </a:solidFill>
                <a:latin typeface="Aptos"/>
              </a:rPr>
              <a:t>Mitigate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6172200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B5C"/>
                </a:solidFill>
                <a:latin typeface="Aptos"/>
              </a:rPr>
              <a:t>Management direction: hold a weekly integrated risk review from QG1 onward, with SAP and merger-zone controls tracked as explicit steering actions rather than buried in workstream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" cy="49834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  <a:latin typeface="Aptos"/>
              </a:rPr>
              <a:t>Management Decisions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418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Actions to keep the programme viable ahead of QG1 and QG4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Robert Bosch GmbH | Trinity-CAM carve-out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5196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Report date 05 Apr 2026</a:t>
            </a:r>
          </a:p>
        </p:txBody>
      </p:sp>
      <p:pic>
        <p:nvPicPr>
          <p:cNvPr id="9" name="Picture 8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73152"/>
            <a:ext cx="1033941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1554480"/>
            <a:ext cx="6720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Approve the QG1 design and funding gate for merger-zone architecture, security controls, and programme governance on 01 Oct 2026.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Confirm Infosys as the accountable delivery partner for merger-zone build, operation, and migration throughput targets.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Mandate JCI data, application, and TSA tower owners to deliver named counterparts and decision SLAs before mobilisation completes.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Confirm Bosch target-state integration resources early enough to absorb the Day 1 merger-zone landing and the QG5 handover path.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11111"/>
                </a:solidFill>
                <a:latin typeface="Aptos"/>
              </a:rPr>
              <a:t>Maintain 01 Jan 2028 as the hard Day 1 date and treat the 10 Dec 2027 QG4 gate as non-negotiable.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2880360" cy="3977639"/>
          </a:xfrm>
          <a:prstGeom prst="roundRect">
            <a:avLst/>
          </a:prstGeom>
          <a:solidFill>
            <a:srgbClr val="F2F4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87451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Aptos"/>
              </a:rPr>
              <a:t>Key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212848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3B5C"/>
                </a:solidFill>
                <a:latin typeface="Aptos"/>
              </a:rPr>
              <a:t>QG1: 01 Oct 2026</a:t>
            </a:r>
            <a:br/>
            <a:r>
              <a:t>Approved JCI TSA end: 31 Jul 2027</a:t>
            </a:r>
            <a:br/>
            <a:r>
              <a:t>QG2/QG3: 31 Jul 2027</a:t>
            </a:r>
            <a:br/>
            <a:r>
              <a:t>QG4: 10 Dec 2027</a:t>
            </a:r>
            <a:br/>
            <a:r>
              <a:t>GoLive: 01 Jan 2028</a:t>
            </a:r>
            <a:br/>
            <a:r>
              <a:t>QG5: 01 Apr 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4251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62A3"/>
                </a:solidFill>
                <a:latin typeface="Aptos"/>
              </a:rPr>
              <a:t>Programme principle:</a:t>
            </a:r>
            <a:br/>
            <a:r>
              <a:t>No hidden scope transfer from JCI to Bosch without governance, budget, and exit evidence.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eng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/>
      <Wert/>
      <Platzhalter>False</Platzhalter>
      <DocDatenDialog>True</DocDatenDialog>
      <Label>Authoring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Internal C-SC1</OrgInhalt>
      <Wert>Internal C-SC1</Wert>
      <Platzhalter>False</Platzhalter>
      <DocDatenDialog>True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Internal C-SC1</OrgInhalt>
      <Wert>Internal C-SC1</Wert>
      <Platzhalter>False</Platzhalter>
      <DocDatenDialog>False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GmbH 2026. All rights reserved, also regarding any disposal, exploitation, reproduction, editing, distribution, as well as in the event of applications for industrial property rights.</OrgInhalt>
      <Wert>© Robert Bosch GmbH 2026.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2026-04-04</OrgInhalt>
      <Wert>2026-04-04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1</Words>
  <Application>Microsoft Office PowerPoint</Application>
  <PresentationFormat>Custom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Bosch Office Sans</vt:lpstr>
      <vt:lpstr>Calibri</vt:lpstr>
      <vt:lpstr>Symbol</vt:lpstr>
      <vt:lpstr>Wingdings</vt:lpstr>
      <vt:lpstr>Bosch 2024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Keng Hua (BD/MIL-ICC)</dc:creator>
  <cp:lastModifiedBy>Ho Keng Hua (BD/MIL-ICC)</cp:lastModifiedBy>
  <cp:revision>1</cp:revision>
  <dcterms:created xsi:type="dcterms:W3CDTF">2026-04-04T13:36:35Z</dcterms:created>
  <dcterms:modified xsi:type="dcterms:W3CDTF">2026-04-04T13:37:24Z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