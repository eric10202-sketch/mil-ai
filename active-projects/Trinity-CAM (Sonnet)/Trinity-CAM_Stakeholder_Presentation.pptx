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3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88825" cy="6858000"/>
  <p:notesSz cx="6858000" cy="9144000"/>
  <p:custDataLst>
    <p:tags r:id="rId13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20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gs" Target="tags/tag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05.04.26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7200" y="2602898"/>
            <a:ext cx="9268637" cy="1507549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7200" y="4241130"/>
            <a:ext cx="9268637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969200" cy="2056725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EB4CC976-E504-9F9B-AAA8-4B8F85DDABEF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984853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2590" userDrawn="1">
          <p15:clr>
            <a:srgbClr val="FBAE40"/>
          </p15:clr>
        </p15:guide>
        <p15:guide id="5" orient="horz" pos="2669" userDrawn="1">
          <p15:clr>
            <a:srgbClr val="FBAE40"/>
          </p15:clr>
        </p15:guide>
        <p15:guide id="6" orient="horz" pos="346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43858496-C239-47F8-BDF4-1C95D89182D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89593" y="1152144"/>
            <a:ext cx="7132831" cy="204436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5C2B86F-C1CA-4E64-9221-A99B4E89D28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3289593" y="3327191"/>
            <a:ext cx="7132831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3" name="SuperGraphic">
            <a:extLst>
              <a:ext uri="{FF2B5EF4-FFF2-40B4-BE49-F238E27FC236}">
                <a16:creationId xmlns:a16="http://schemas.microsoft.com/office/drawing/2014/main" id="{8E3B306C-041F-4487-8C98-1BF9B6BE172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42494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37724B12-9637-FD34-B3B0-53E9BF1D1434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70" userDrawn="1">
          <p15:clr>
            <a:srgbClr val="FBAE40"/>
          </p15:clr>
        </p15:guide>
        <p15:guide id="2" pos="6566" userDrawn="1">
          <p15:clr>
            <a:srgbClr val="FBAE40"/>
          </p15:clr>
        </p15:guide>
        <p15:guide id="3" orient="horz" pos="2093" userDrawn="1">
          <p15:clr>
            <a:srgbClr val="FBAE40"/>
          </p15:clr>
        </p15:guide>
        <p15:guide id="4" orient="horz" pos="2014" userDrawn="1">
          <p15:clr>
            <a:srgbClr val="FBAE40"/>
          </p15:clr>
        </p15:guide>
        <p15:guide id="5" orient="horz" pos="347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E881C9CD-D10B-4CDB-B44D-3FBD5D07A51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7200" y="2602896"/>
            <a:ext cx="9268637" cy="2892602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Chapter title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0" y="99"/>
            <a:ext cx="10969625" cy="2055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781" y="98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DB38986C-DCE5-D964-B0BA-9AB589C96711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346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E5083679-3829-4F0B-9E1A-B4E6F314AFD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9831" y="1200075"/>
            <a:ext cx="7072741" cy="3142785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Chapter title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-1" y="99"/>
            <a:ext cx="2739600" cy="617051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4400" y="99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5" name="SuperGraphic">
            <a:extLst>
              <a:ext uri="{FF2B5EF4-FFF2-40B4-BE49-F238E27FC236}">
                <a16:creationId xmlns:a16="http://schemas.microsoft.com/office/drawing/2014/main" id="{B93399BE-B0B2-44B3-8FAE-18A968B3CDA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9615C293-AF3D-B45D-E4FB-BC09FDE03C19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30814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64" userDrawn="1">
          <p15:clr>
            <a:srgbClr val="FBAE40"/>
          </p15:clr>
        </p15:guide>
        <p15:guide id="2" pos="6524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2738" userDrawn="1">
          <p15:clr>
            <a:srgbClr val="FBAE40"/>
          </p15:clr>
        </p15:guide>
        <p15:guide id="5" pos="2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out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926F8EF2-FFD9-4D48-A076-77C0B811BAB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</p:spTree>
    <p:extLst>
      <p:ext uri="{BB962C8B-B14F-4D97-AF65-F5344CB8AC3E}">
        <p14:creationId xmlns:p14="http://schemas.microsoft.com/office/powerpoint/2010/main" val="76580094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77066FA-8AE8-47E2-8A79-1355389EE47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E3AE72B7-66D7-4755-9A92-9BAA3A80886F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6B548-69AA-497B-BD64-E14E4F9EA5F6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406800" y="1036800"/>
            <a:ext cx="3780000" cy="2484000"/>
          </a:xfrm>
          <a:solidFill>
            <a:schemeClr val="bg1"/>
          </a:solidFill>
        </p:spPr>
        <p:txBody>
          <a:bodyPr lIns="252000" tIns="216000" rIns="252000" bIns="21600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7648965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1630DC1C-C3C8-477E-AC19-4DC706EB499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30852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0CB4FC-C276-4DB5-A6E3-49DD9BC66B63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205199" y="3495705"/>
            <a:ext cx="10558800" cy="2041094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8320614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949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orient="horz" pos="220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FD4E5E48-387B-4CE0-80BE-1097F697DAD5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5486400" cy="6170400"/>
          </a:xfr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647D1E-89E9-4244-B52F-555902731C7A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895302" y="410492"/>
            <a:ext cx="4596486" cy="5126308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005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56" userDrawn="1">
          <p15:clr>
            <a:srgbClr val="FBAE40"/>
          </p15:clr>
        </p15:guide>
        <p15:guide id="2" pos="6609" userDrawn="1">
          <p15:clr>
            <a:srgbClr val="FBAE40"/>
          </p15:clr>
        </p15:guide>
        <p15:guide id="3" orient="horz" pos="257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pos="371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-1"/>
            <a:ext cx="10969625" cy="610296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6" name="Logo">
            <a:extLst>
              <a:ext uri="{FF2B5EF4-FFF2-40B4-BE49-F238E27FC236}">
                <a16:creationId xmlns:a16="http://schemas.microsoft.com/office/drawing/2014/main" id="{0C8D7868-566A-E406-AA76-0F7E438D381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35774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8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-1" y="0"/>
            <a:ext cx="10899775" cy="61704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Logo">
            <a:extLst>
              <a:ext uri="{FF2B5EF4-FFF2-40B4-BE49-F238E27FC236}">
                <a16:creationId xmlns:a16="http://schemas.microsoft.com/office/drawing/2014/main" id="{F002D116-88B8-2720-FAAC-860765E59F72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23210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pos="686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05200" y="1296000"/>
            <a:ext cx="105588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261F3-E57F-4170-BD7E-F44931B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EE88F-E97F-46A3-8AB7-354C833C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06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96000" y="1295999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AttachmentRemark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F85651-AA1F-4EE5-A69C-0361B9A9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5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776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500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2224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8EDC3-D46C-4E18-BC78-B9478A7B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1731" userDrawn="1">
          <p15:clr>
            <a:srgbClr val="FBAE40"/>
          </p15:clr>
        </p15:guide>
        <p15:guide id="9" pos="1810" userDrawn="1">
          <p15:clr>
            <a:srgbClr val="FBAE40"/>
          </p15:clr>
        </p15:guide>
        <p15:guide id="10" pos="3417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98" userDrawn="1">
          <p15:clr>
            <a:srgbClr val="FBAE40"/>
          </p15:clr>
        </p15:guide>
        <p15:guide id="13" pos="517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7342F-2EB7-4EB1-963F-314A664F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0000" y="1295999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00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D5130-F453-4F60-9091-CC67A951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006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960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006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960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6" name="AttachmentRemark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4D98D-B6D0-4EAC-B595-B1B3F34F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  <p15:guide id="12" orient="horz" pos="2113" userDrawn="1">
          <p15:clr>
            <a:srgbClr val="FBAE40"/>
          </p15:clr>
        </p15:guide>
        <p15:guide id="13" orient="horz" pos="21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8776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00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2224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8776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00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2224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AttachmentRemark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E2449-86F7-413D-AD74-17B8BDC5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1731" userDrawn="1">
          <p15:clr>
            <a:srgbClr val="FBAE40"/>
          </p15:clr>
        </p15:guide>
        <p15:guide id="11" pos="181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98" userDrawn="1">
          <p15:clr>
            <a:srgbClr val="FBAE40"/>
          </p15:clr>
        </p15:guide>
        <p15:guide id="15" pos="517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C74776-286D-45CF-B42A-A491ED08B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Slide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29A7-9E35-4523-8421-38341F67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ttachmentRemark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0A8589-A8D2-4132-B89B-2FADFC12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Logo">
            <a:extLst>
              <a:ext uri="{FF2B5EF4-FFF2-40B4-BE49-F238E27FC236}">
                <a16:creationId xmlns:a16="http://schemas.microsoft.com/office/drawing/2014/main" id="{F38A617B-35DF-43CE-B5F7-67FA9A7F247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Add 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200" y="1296000"/>
            <a:ext cx="10558800" cy="4240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05200" y="566640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Bosch_footer_1">
            <a:extLst>
              <a:ext uri="{FF2B5EF4-FFF2-40B4-BE49-F238E27FC236}">
                <a16:creationId xmlns:a16="http://schemas.microsoft.com/office/drawing/2014/main" id="{179AD5EC-CEF2-4193-998B-D730BC74E01B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 | 2026-04-04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47200" y="5793901"/>
            <a:ext cx="912600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© Robert Bosch GmbH 2026. All rights reserved, also regarding any disposal, exploitation, reproduction, editing, distribution, as well as in the event of applications for industrial property rights.</a:t>
            </a:r>
          </a:p>
        </p:txBody>
      </p:sp>
      <p:sp>
        <p:nvSpPr>
          <p:cNvPr id="15" name="Bosch_footer_1" hidden="1">
            <a:extLst>
              <a:ext uri="{FF2B5EF4-FFF2-40B4-BE49-F238E27FC236}">
                <a16:creationId xmlns:a16="http://schemas.microsoft.com/office/drawing/2014/main" id="{DB0BF576-A4BE-4521-98AB-F28795DF7BD0}"/>
              </a:ext>
            </a:extLst>
          </p:cNvPr>
          <p:cNvSpPr txBox="1"/>
          <p:nvPr userDrawn="1"/>
        </p:nvSpPr>
        <p:spPr>
          <a:xfrm>
            <a:off x="816069" y="538354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5" name="Bosch_footer_conf" hidden="1">
            <a:extLst>
              <a:ext uri="{FF2B5EF4-FFF2-40B4-BE49-F238E27FC236}">
                <a16:creationId xmlns:a16="http://schemas.microsoft.com/office/drawing/2014/main" id="{F284BCA6-6C15-7058-29DB-AB9000B6F1CF}"/>
              </a:ext>
            </a:extLst>
          </p:cNvPr>
          <p:cNvSpPr txBox="1"/>
          <p:nvPr userDrawn="1"/>
        </p:nvSpPr>
        <p:spPr>
          <a:xfrm>
            <a:off x="816069" y="516859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endParaRPr lang="en-US" sz="600" kern="0" baseline="0" noProof="1">
              <a:solidFill>
                <a:schemeClr val="tx1"/>
              </a:solidFill>
            </a:endParaRPr>
          </a:p>
        </p:txBody>
      </p:sp>
      <p:sp>
        <p:nvSpPr>
          <p:cNvPr id="13" name="AttachmentRemark" hidden="1">
            <a:extLst>
              <a:ext uri="{FF2B5EF4-FFF2-40B4-BE49-F238E27FC236}">
                <a16:creationId xmlns:a16="http://schemas.microsoft.com/office/drawing/2014/main" id="{F41551A9-D6BA-431A-8DBF-55BA472D9657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12" name="SuperGraphic">
            <a:extLst>
              <a:ext uri="{FF2B5EF4-FFF2-40B4-BE49-F238E27FC236}">
                <a16:creationId xmlns:a16="http://schemas.microsoft.com/office/drawing/2014/main" id="{1E0562BC-DD12-4C96-A115-D2D70EC1366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10" r:id="rId2"/>
    <p:sldLayoutId id="2147483713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46" r:id="rId11"/>
    <p:sldLayoutId id="2147483744" r:id="rId12"/>
    <p:sldLayoutId id="2147483724" r:id="rId13"/>
    <p:sldLayoutId id="2147483726" r:id="rId14"/>
    <p:sldLayoutId id="2147483727" r:id="rId15"/>
    <p:sldLayoutId id="2147483728" r:id="rId16"/>
    <p:sldLayoutId id="2147483729" r:id="rId17"/>
    <p:sldLayoutId id="2147483745" r:id="rId18"/>
    <p:sldLayoutId id="2147483723" r:id="rId19"/>
    <p:sldLayoutId id="2147483734" r:id="rId20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333" rtl="0" eaLnBrk="1" latinLnBrk="0" hangingPunct="1">
        <a:lnSpc>
          <a:spcPct val="107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7600" indent="-230400" algn="l" defTabSz="914333" rtl="0" eaLnBrk="1" latinLnBrk="0" hangingPunct="1">
        <a:lnSpc>
          <a:spcPct val="103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333" rtl="0" eaLnBrk="1" latinLnBrk="0" hangingPunct="1">
        <a:lnSpc>
          <a:spcPct val="102000"/>
        </a:lnSpc>
        <a:spcBef>
          <a:spcPts val="5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Trinity-CAM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t>Management Stakeholder Presentation</a:t>
            </a:r>
          </a:p>
          <a:p>
            <a:r>
              <a:t>JCI Aircondition Carve-Out into Robert Bosch GmbH</a:t>
            </a:r>
          </a:p>
          <a:p>
            <a:r>
              <a:t>Integration Model  |  Report Date: 05 Apr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Trinity-CAM — Programme Status Overview  |  Integration Model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Programme formally commenced 1 Jul 2026. KPMG PMO mobilised. Infosys SOW signed.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Scope: 48 sites, 12,000 users, 1,800+ applications including major SAP landscape.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Integration Model: JCI IT assets migrate to Infosys-operated Merger Zone, then Bosch IT.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Overall RAG: AMBER. SPI 1.00 / CPI 1.00 at QG0 baseline. No schedule or cost overrun.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Key risk R001 (SAP landscape complexity, score 20) requires response plan by Aug 2026 SteerCo.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GoLive target confirmed: 1 January 2028. JCI TSA expired 30 Jun 2026 — no extension.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216152"/>
            <a:ext cx="1056132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652760" y="228600"/>
            <a:ext cx="201168" cy="201168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GoLive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1 Jan 2028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85615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95344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Overall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5344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AMBER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96912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0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Top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Score 20 (SAP)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&amp; Integration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What is in scope and the two-hop migration path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Migration path: JCI IT (source) → Merger Zone, Infosys-operated (transient) → Bosch IT (target).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In scope: 12,000 users, all devices, M365 tenant, 1,800+ applications, full SAP landscape.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Infrastructure: New Merger Zone DC/cloud (Infosys build); SD-WAN to 48 global sites.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SAP: Full system copy JCI → MZ; client separation; 2 mock cutovers before GoLive.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3 application migration waves + dedicated SAP track; GDPR-compliant 48-jurisdiction data transfers.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Out of scope: Bosch standard platform harmonisation; SAP feature changes; hardware refresh.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216152"/>
            <a:ext cx="1056132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652760" y="228600"/>
            <a:ext cx="201168" cy="201168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48 Global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85615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95344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5344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12,000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96912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0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Applications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1,800+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 Timeline &amp; Quality Gates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Jul 2026 — Apr 2028  |  6 gates  |  Integration model milestone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06040"/>
            <a:ext cx="10789920" cy="54864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84048" y="2423160"/>
            <a:ext cx="329184" cy="329184"/>
          </a:xfrm>
          <a:prstGeom prst="ellipse">
            <a:avLst/>
          </a:prstGeom>
          <a:solidFill>
            <a:srgbClr val="0066C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" y="2834640"/>
            <a:ext cx="768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B6E"/>
                </a:solidFill>
              </a:defRPr>
            </a:pPr>
            <a:r>
              <a:t>QG0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" y="3090672"/>
            <a:ext cx="87782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6478"/>
                </a:solidFill>
              </a:defRPr>
            </a:pPr>
            <a:r>
              <a:t>1 Jul 26</a:t>
            </a:r>
          </a:p>
        </p:txBody>
      </p:sp>
      <p:sp>
        <p:nvSpPr>
          <p:cNvPr id="9" name="Oval 8"/>
          <p:cNvSpPr/>
          <p:nvPr/>
        </p:nvSpPr>
        <p:spPr>
          <a:xfrm>
            <a:off x="2487168" y="2423160"/>
            <a:ext cx="329184" cy="329184"/>
          </a:xfrm>
          <a:prstGeom prst="ellipse">
            <a:avLst/>
          </a:prstGeom>
          <a:solidFill>
            <a:srgbClr val="00519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67712" y="2834640"/>
            <a:ext cx="768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B6E"/>
                </a:solidFill>
              </a:defRPr>
            </a:pPr>
            <a:r>
              <a:t>QG1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3090672"/>
            <a:ext cx="87782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6478"/>
                </a:solidFill>
              </a:defRPr>
            </a:pPr>
            <a:r>
              <a:t>1 Oct 26</a:t>
            </a:r>
          </a:p>
        </p:txBody>
      </p:sp>
      <p:sp>
        <p:nvSpPr>
          <p:cNvPr id="12" name="Oval 11"/>
          <p:cNvSpPr/>
          <p:nvPr/>
        </p:nvSpPr>
        <p:spPr>
          <a:xfrm>
            <a:off x="5138928" y="2423160"/>
            <a:ext cx="329184" cy="329184"/>
          </a:xfrm>
          <a:prstGeom prst="ellipse">
            <a:avLst/>
          </a:prstGeom>
          <a:solidFill>
            <a:srgbClr val="00519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19472" y="2834640"/>
            <a:ext cx="768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B6E"/>
                </a:solidFill>
              </a:defRPr>
            </a:pPr>
            <a:r>
              <a:t>QG2&amp;3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3090672"/>
            <a:ext cx="87782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6478"/>
                </a:solidFill>
              </a:defRPr>
            </a:pPr>
            <a:r>
              <a:t>31 Jul 27</a:t>
            </a:r>
          </a:p>
        </p:txBody>
      </p:sp>
      <p:sp>
        <p:nvSpPr>
          <p:cNvPr id="15" name="Oval 14"/>
          <p:cNvSpPr/>
          <p:nvPr/>
        </p:nvSpPr>
        <p:spPr>
          <a:xfrm>
            <a:off x="8065008" y="2423160"/>
            <a:ext cx="329184" cy="329184"/>
          </a:xfrm>
          <a:prstGeom prst="ellipse">
            <a:avLst/>
          </a:prstGeom>
          <a:solidFill>
            <a:srgbClr val="0066C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45552" y="2834640"/>
            <a:ext cx="768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B6E"/>
                </a:solidFill>
              </a:defRPr>
            </a:pPr>
            <a:r>
              <a:t>QG4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3090672"/>
            <a:ext cx="87782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6478"/>
                </a:solidFill>
              </a:defRPr>
            </a:pPr>
            <a:r>
              <a:t>8 Dec 27</a:t>
            </a:r>
          </a:p>
        </p:txBody>
      </p:sp>
      <p:sp>
        <p:nvSpPr>
          <p:cNvPr id="18" name="Oval 17"/>
          <p:cNvSpPr/>
          <p:nvPr/>
        </p:nvSpPr>
        <p:spPr>
          <a:xfrm>
            <a:off x="8979408" y="2423160"/>
            <a:ext cx="329184" cy="329184"/>
          </a:xfrm>
          <a:prstGeom prst="ellipse">
            <a:avLst/>
          </a:prstGeom>
          <a:solidFill>
            <a:srgbClr val="007A3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59952" y="2834640"/>
            <a:ext cx="768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B6E"/>
                </a:solidFill>
              </a:defRPr>
            </a:pPr>
            <a:r>
              <a:t>GoLive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3090672"/>
            <a:ext cx="87782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6478"/>
                </a:solidFill>
              </a:defRPr>
            </a:pPr>
            <a:r>
              <a:t>1 Jan 28</a:t>
            </a:r>
          </a:p>
        </p:txBody>
      </p:sp>
      <p:sp>
        <p:nvSpPr>
          <p:cNvPr id="21" name="Oval 20"/>
          <p:cNvSpPr/>
          <p:nvPr/>
        </p:nvSpPr>
        <p:spPr>
          <a:xfrm>
            <a:off x="10625328" y="2423160"/>
            <a:ext cx="329184" cy="329184"/>
          </a:xfrm>
          <a:prstGeom prst="ellipse">
            <a:avLst/>
          </a:prstGeom>
          <a:solidFill>
            <a:srgbClr val="357AB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05872" y="2834640"/>
            <a:ext cx="768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3B6E"/>
                </a:solidFill>
              </a:defRPr>
            </a:pPr>
            <a:r>
              <a:t>QG5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51008" y="3090672"/>
            <a:ext cx="87782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A6478"/>
                </a:solidFill>
              </a:defRPr>
            </a:pPr>
            <a:r>
              <a:t>1 Apr 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0116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03B6E"/>
                </a:solidFill>
              </a:defRPr>
            </a:pPr>
            <a:r>
              <a:t>Ph1 Initiation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20116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05199"/>
                </a:solidFill>
              </a:defRPr>
            </a:pPr>
            <a:r>
              <a:t>Ph2 MZ 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20116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05199"/>
                </a:solidFill>
              </a:defRPr>
            </a:pPr>
            <a:r>
              <a:t>Ph3 Test &amp; Migrate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0116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03B6E"/>
                </a:solidFill>
              </a:defRPr>
            </a:pPr>
            <a:r>
              <a:t>Ph4 Final 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0116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A6478"/>
                </a:solidFill>
              </a:defRPr>
            </a:pPr>
            <a:r>
              <a:t>Ph5 Hypercare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47472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QG0 Jul 2026: PMO + Infosys mobilised. Initiation phase kickoff.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QG1 Oct 2026: Concept approved. App inventory, MZ arch, CAPEX budget signed off.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QG2&amp;3 Jul 2027: Merger Zone DC live. SAP copy done. Wave 1 (~400 apps) validated.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QG4 Dec 2027: All 12,000 users + 1,800+ apps on MZ. SAP Mock 2 passed. UAT signed.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GoLive Jan 2028: Day 1 cutover. MZ live. TSA dependencies fully exited. Hypercare active.</a:t>
            </a:r>
          </a:p>
          <a:p>
            <a:pPr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QG5 Apr 2028: 90-day hypercare complete. Bosch IT handover. Programme closed.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" y="1216152"/>
            <a:ext cx="1056132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652760" y="228600"/>
            <a:ext cx="201168" cy="201168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74320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4048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GoLive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1 Jan 2028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85615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95344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Duration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95344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21 months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96912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06640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Gates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QG0-QG5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Workstream Status &amp; Readiness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9 workstreams across KPMG and Infosys delivery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GREEN: Programme Control (KPMG PMO), End-User Workplace, Identity &amp; Access, Data Migration.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AMBER: MZ Infrastructure (MZ arch pending QG1), SAP Migration (R001 response in progress).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AMBER: Application Migration (1,800+ inventory 85% complete), Security &amp; GDPR (DPIAs in progress).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AMBER: TSA Exit &amp; HR/Legal (TUPE works council notifications filed in DE; FR Aug 2026).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Overall readiness: 12% (Initiation phase). Target 100% at QG4 (8 Dec 2027).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No RED workstreams at programme baseline. Monitoring R001 SAP and R006 GDPR.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216152"/>
            <a:ext cx="1056132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652760" y="228600"/>
            <a:ext cx="201168" cy="201168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GREEN 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4/9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85615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95344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AMBER 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5344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5/9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96912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0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RED 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0/9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Labour cost plan | CAPEX TBC at QG1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Total Labour Budget: EUR 7,873,600 (KPMG + Infosys). Contingency +15%: EUR 9,054,640.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CAPEX (MZ infrastructure, M365 licences, 48-site SD-WAN): TBC at QG1 — Infosys to submit.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KPMG share (PMO + Architecture + SAP Advisory): EUR 2,562,400 (32.5% of labour).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Infosys share (PM, Infra, IAM, SAP, Apps, Data, Service): EUR 5,311,200 (67.5% of labour).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Phase 2 MZ Build: EUR 2.76M (35% of total) — largest programme phase by cost.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CPI 1.00 at QG0 baseline. No variance to date. Budget release gate: QG1 approval.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216152"/>
            <a:ext cx="1056132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652760" y="228600"/>
            <a:ext cx="201168" cy="201168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Labour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EUR 7.87M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85615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95344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Contingency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5344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EUR 1.18M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96912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0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CAPEX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TBC QG1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Risks &amp; Mitigations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From Trinity-CAM Risk Register — 25 risks (24 threats, 1 opportunity)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R001 SAP Complexity (score 20 — HIGH): System copy delay risk. Response plan tabled Aug 2026 SteerCo.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R003 SAP Mock Cutover 2 timing (score 15 — HIGH): Mock 1 (Jul 2027) validates remediation window.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R002 Infosys MZ delivery delay (score 12): Cloud fallback option being assessed; procurement at QG1.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R006 GDPR breach exposure (score 10): DPIA active across 48 jurisdictions; legal counsel engaged.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R005 TUPE non-compliance DE/FR (score 10): Works council Germany notified; France EWC Aug 2026.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R025 OPPTY: MZ cloud modernisation (score 12): EUR 3-5M/yr Bosch OPEX saving; Infosys cloud lead.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216152"/>
            <a:ext cx="1056132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652760" y="228600"/>
            <a:ext cx="201168" cy="201168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High 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2 (R001, R003)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85615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95344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Med risks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5344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22 open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96912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0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1 (R025)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Management Decisions Required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Actions required from Bosch Steering Committee and JCI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defRPr sz="2200" b="1">
                <a:solidFill>
                  <a:srgbClr val="1A1A1A"/>
                </a:solidFill>
              </a:defRPr>
            </a:pPr>
            <a:r>
              <a:t>DECISION 1: Approve QG1 CAPEX envelope (MZ infrastructure, M365, SD-WAN) — target vote Oct 2026.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DECISION 2: Formally adopt Infosys cloud fallback option into MZ architecture (risk R002 mitigation).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DECISION 3: Confirm Bosch-side IT integration scope and resources to be ready post-GoLive (Jan 2028).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DECISION 4: Mandate JCI senior IT cooperation SLA for application inventory and data quality.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DECISION 5: Approve August 2026 SteerCo date to review R001 SAP risk response plan.</a:t>
            </a:r>
          </a:p>
          <a:p>
            <a:pPr>
              <a:defRPr sz="1800" b="0">
                <a:solidFill>
                  <a:srgbClr val="1A1A1A"/>
                </a:solidFill>
              </a:defRPr>
            </a:pPr>
            <a:r>
              <a:t>DECISION 6: Confirm GoLive date 1 Jan 2028 as hard business deadline — no further flex.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216152"/>
            <a:ext cx="1056132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652760" y="228600"/>
            <a:ext cx="201168" cy="201168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Decisions 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85615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95344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Next SteerCo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5344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Aug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96912" y="4480560"/>
            <a:ext cx="3337560" cy="530352"/>
          </a:xfrm>
          <a:prstGeom prst="rect">
            <a:avLst/>
          </a:prstGeom>
          <a:solidFill>
            <a:srgbClr val="E4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0" y="4535424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A6478"/>
                </a:solidFill>
              </a:defRPr>
            </a:pPr>
            <a:r>
              <a:t>GoLive confirm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4700016"/>
            <a:ext cx="30632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3B6E"/>
                </a:solidFill>
              </a:defRPr>
            </a:pPr>
            <a:r>
              <a:t>1 Jan 2028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TEMPLATE" val="presentation_169"/>
  <p:tag name="SAXMLCOMPANYNAME" val="bosch"/>
  <p:tag name="MLLANGUAGE" val="eng"/>
  <p:tag name="MLTEMPLATEVERSION" val="2.2"/>
  <p:tag name="SAXCONVERSION" val="2"/>
</p:tagLst>
</file>

<file path=ppt/theme/theme1.xml><?xml version="1.0" encoding="utf-8"?>
<a:theme xmlns:a="http://schemas.openxmlformats.org/drawingml/2006/main" name="Bosch 2024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198F02AD-A328-41CF-AEF3-4AEA9DC97E6D}" vid="{A553CE3C-9352-4BF3-9E58-0BEA59765750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Attachment</Label>
      <FrageVar>False</FrageVar>
      <Prefix/>
      <Suffix/>
      <WegfallVar/>
      <MussFeld>False</MussFeld>
      <InDokument>True</InDokument>
      <Sektion>AttachmentRemark</Sektion>
      <Reihenfolge>0</Reihenfolge>
    </Variable>
    <Variable>
      <Name>departmentshort</Name>
      <OrgInhalt/>
      <Wert/>
      <Platzhalter>False</Platzhalter>
      <DocDatenDialog>True</DocDatenDialog>
      <Label>Authoring</Label>
      <FrageVar>False</FrageVar>
      <Prefix/>
      <Suffix/>
      <WegfallVar/>
      <MussFeld>False</MussFeld>
      <Trenner>
        <VariableVor>classification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classification</Name>
      <OrgInhalt>Internal C-SC1</OrgInhalt>
      <Wert>Internal C-SC1</Wert>
      <Platzhalter>False</Platzhalter>
      <DocDatenDialog>True</DocDatenDialog>
      <Label>Classification:</Label>
      <FrageVar>False</FrageVar>
      <Prefix/>
      <Suffix/>
      <WegfallVar/>
      <ComboBox>
        <Option>Public C-SC0</Option>
        <Option>Internal C-SC1</Option>
        <Option>Confidential C-SC2</Option>
        <Option>Strictly confidential C-SC3</Option>
        <Option/>
      </ComboBox>
      <MussFeld>False</MussFeld>
      <InDokument>True</InDokument>
      <Sektion>Bosch_footer_1</Sektion>
      <Reihenfolge>0</Reihenfolge>
    </Variable>
    <Variable>
      <Name>classification2</Name>
      <OrgInhalt>Internal C-SC1</OrgInhalt>
      <Wert>Internal C-SC1</Wert>
      <Platzhalter>False</Platzhalter>
      <DocDatenDialog>False</DocDatenDialog>
      <Label>Classification:</Label>
      <FrageVar>False</FrageVar>
      <Prefix/>
      <Suffix/>
      <WegfallVar/>
      <ComboBox>
        <Option>Public C-SC0</Option>
        <Option>Internal C-SC1</Option>
        <Option>Confidential C-SC2</Option>
        <Option>Strictly confidential C-SC3</Option>
        <Option/>
      </ComboBox>
      <MussFeld>False</MussFeld>
      <InDokument>True</InDokument>
      <Sektion>Bosch_footer_conf</Sektion>
      <Reihenfolge>0</Reihenfolge>
    </Variable>
    <Variable>
      <Name>copyright</Name>
      <OrgInhalt>© Robert Bosch GmbH 2026. All rights reserved, also regarding any disposal, exploitation, reproduction, editing, distribution, as well as in the event of applications for industrial property rights.</OrgInhalt>
      <Wert>© Robert Bosch GmbH 2026. All rights reserved, also regarding any disposal, exploitation, reproduction, editing, distribution, as well as in the event of applications for industrial property rights.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2026-04-04</OrgInhalt>
      <Wert>2026-04-04</Wert>
      <Platzhalter>False</Platzhalter>
      <DocDatenDialog>True</DocDatenDialog>
      <Label>Date</Label>
      <FrageVar>False</FrageVar>
      <Prefix/>
      <Suffix/>
      <WegfallVar/>
      <MussFeld>False</MussFeld>
      <Trenner>
        <VariableVor>departmentshort</VariableVor>
        <VariableVor>classification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/>
      <Wert/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classification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Filing note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2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Props1.xml><?xml version="1.0" encoding="utf-8"?>
<ds:datastoreItem xmlns:ds="http://schemas.openxmlformats.org/officeDocument/2006/customXml" ds:itemID="{304CF217-3C90-4AA0-B541-CE45F9BD305E}">
  <ds:schemaRefs/>
</ds:datastoreItem>
</file>

<file path=customXml/itemProps2.xml><?xml version="1.0" encoding="utf-8"?>
<ds:datastoreItem xmlns:ds="http://schemas.openxmlformats.org/officeDocument/2006/customXml" ds:itemID="{D0252559-44F8-474C-B66D-E357B88E32C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0</TotalTime>
  <Words>1005</Words>
  <Application>Microsoft Macintosh PowerPoint</Application>
  <PresentationFormat>Custom</PresentationFormat>
  <Paragraphs>119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Bosch Office Sans</vt:lpstr>
      <vt:lpstr>Calibri</vt:lpstr>
      <vt:lpstr>Symbol</vt:lpstr>
      <vt:lpstr>Wingdings</vt:lpstr>
      <vt:lpstr>Bosch 2024</vt:lpstr>
      <vt:lpstr>Project Trinity-CAM</vt:lpstr>
      <vt:lpstr>Executive Summary</vt:lpstr>
      <vt:lpstr>Scope &amp; Integration Model</vt:lpstr>
      <vt:lpstr>Programme Timeline &amp; Quality Gates</vt:lpstr>
      <vt:lpstr>Workstream Status &amp; Readiness</vt:lpstr>
      <vt:lpstr>Budget Overview</vt:lpstr>
      <vt:lpstr>Top Risks &amp; Mitigations</vt:lpstr>
      <vt:lpstr>Management Decisions Required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 Keng Hua (BD/MIL-ICC)</dc:creator>
  <cp:lastModifiedBy>Ho Keng Hua (BD/MIL-ICC)</cp:lastModifiedBy>
  <cp:revision>2</cp:revision>
  <dcterms:created xsi:type="dcterms:W3CDTF">2026-04-04T13:36:35Z</dcterms:created>
  <dcterms:modified xsi:type="dcterms:W3CDTF">2026-04-04T23:08:51Z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lassification">
    <vt:lpwstr>$tr_sc_internal$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</Properties>
</file>