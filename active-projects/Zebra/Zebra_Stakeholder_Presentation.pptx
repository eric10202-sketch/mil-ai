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Bravo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Management Stakeholder Update</a:t>
            </a:r>
          </a:p>
          <a:p>
            <a:r>
              <a:t>BGSW AI Business Carve-Out into 50/50 JV with Tata</a:t>
            </a:r>
          </a:p>
          <a:p>
            <a:r>
              <a:t>Report Date: 04 Apr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Status: On track for Day 1 GoLive on 01 Jul 2026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Scope: 17 AI applications, 70 users, 2 India sites.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Model benefits: no TSA, no Merger Zone, no antitrust filing.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Baseline: EUR 554K labour budget, CAPEX decision at QG0.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SteerCo focus: legal entity timing and Jun build resourcing.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Bravo | Combination model with Bosch leadership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GoLive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01 Jul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SPI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1.00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CPI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Scope and Carve-Out Model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In scope: AI app wave, users/devices, cloud/identity/network/security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17 AI applications in one migration wave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70 users and device transition to JV standards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JV AD forest, M365 tenant, Azure setup across 2 India sites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No ERP in scope and no TSA required after GoLive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is in scope and why execution risk is lower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70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Timeline and Quality Gates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April to October 2026 plan with mandatory gate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10058400" cy="54864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423160"/>
            <a:ext cx="365760" cy="36576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6478"/>
                </a:solidFill>
              </a:defRPr>
            </a:pPr>
            <a:r>
              <a:t>30 Apr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2423160"/>
            <a:ext cx="365760" cy="365760"/>
          </a:xfrm>
          <a:prstGeom prst="ellipse">
            <a:avLst/>
          </a:prstGeom>
          <a:solidFill>
            <a:srgbClr val="0088E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QG1/2/3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246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6478"/>
                </a:solidFill>
              </a:defRPr>
            </a:pPr>
            <a:r>
              <a:t>26 Jun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423160"/>
            <a:ext cx="365760" cy="365760"/>
          </a:xfrm>
          <a:prstGeom prst="ellipse">
            <a:avLst/>
          </a:prstGeom>
          <a:solidFill>
            <a:srgbClr val="007A3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GoLive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6478"/>
                </a:solidFill>
              </a:defRPr>
            </a:pPr>
            <a:r>
              <a:t>01 Jul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0" y="2423160"/>
            <a:ext cx="365760" cy="365760"/>
          </a:xfrm>
          <a:prstGeom prst="ellipse">
            <a:avLst/>
          </a:prstGeom>
          <a:solidFill>
            <a:srgbClr val="0076C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2926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246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6478"/>
                </a:solidFill>
              </a:defRPr>
            </a:pPr>
            <a:r>
              <a:t>02 Jul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0" y="2423160"/>
            <a:ext cx="365760" cy="36576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2926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32461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A6478"/>
                </a:solidFill>
              </a:defRPr>
            </a:pPr>
            <a:r>
              <a:t>30 Oct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Key milestones: QG0 (30 Apr) → QG1/2/3 combined (26 Jun) → GoLive (01 Jul) and QG4 (02 Jul) → QG5 (30 Oct)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QG4 Pre-GoLive gate must be cleared before Day 1 operations commence on 01 Jul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KPI and Readiness Snapshot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SPI 1.00 and CPI 1.00: on plan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Apps migrated: 0/17 (migration planned in June)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Open risks: 3 amber | Critical issues: 0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High confidence: PMO, Infra, Security, Workplace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Medium confidence: Legal setup, Data separation,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Control metrics and confidence by workstream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Open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3 Amber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Critical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On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Budget View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Labour baseline: EUR 554K | CAPEX: TBC at QG0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Top cost buckets: Programme Mgmt, IT PM, Hypercare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Infrastructure and app migration costs within plan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Contingency reserve available for transition volatility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No budget overrun indicators at current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Labour baseline and major cost buckets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Labour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EUR 554K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CAPEX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TBC QG0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Reserve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EUR 83K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Top Risks and Mitigations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R1 Bandwidth constraints Apr-Jun (score 16, amber)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R3 Licensing cost pressure (score 9, amber)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R5 Key IT staff availability in June (score 12, amber)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Mitigations active: resource protection, quote lock, staffing backup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Weekly escalation in PMO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Active amber risks and mitigation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R5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Weekly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Management Decisions Required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Approve CAPEX envelope at QG0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Confirm Tata-side IT staffing for May architecture workshops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Approve June critical resource protection plan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Support legal escalation for JV entity registration timeline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Maintain weekly executive checkpoint cadence to GoLive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Steering actions requested this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SteerCo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Cadence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Weekly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